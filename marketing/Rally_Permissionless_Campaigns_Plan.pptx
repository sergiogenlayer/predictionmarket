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50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O3oPyaVwuSDak84CgE4xqk1jykADMsvYddNdYAzc_vw/edit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O3oPyaVwuSDak84CgE4xqk1jykADMsvYddNdYAzc_vw/edit" TargetMode="Externa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O3oPyaVwuSDak84CgE4xqk1jykADMsvYddNdYAzc_vw/edit" TargetMode="External"/><Relationship Id="rId3" Type="http://schemas.openxmlformats.org/officeDocument/2006/relationships/hyperlink" Target="https://docs.google.com/document/d/1O3oPyaVwuSDak84CgE4xqk1jykADMsvYddNdYAzc_vw/edit" TargetMode="External"/><Relationship Id="rId5" Type="http://schemas.openxmlformats.org/officeDocument/2006/relationships/hyperlink" Target="https://docs.google.com/document/d/1O3oPyaVwuSDak84CgE4xqk1jykADMsvYddNdYAzc_vw/edit" TargetMode="External"/><Relationship Id="rId7" Type="http://schemas.openxmlformats.org/officeDocument/2006/relationships/hyperlink" Target="https://docs.google.com/document/d/1O3oPyaVwuSDak84CgE4xqk1jykADMsvYddNdYAzc_vw/edit" TargetMode="External"/><Relationship Id="rId9" Type="http://schemas.openxmlformats.org/officeDocument/2006/relationships/hyperlink" Target="https://docs.google.com/document/d/1O3oPyaVwuSDak84CgE4xqk1jykADMsvYddNdYAzc_vw/edit" TargetMode="External"/><Relationship Id="rId2" Type="http://schemas.openxmlformats.org/officeDocument/2006/relationships/image" Target="../media/image-3-1.png"/><Relationship Id="rId4" Type="http://schemas.openxmlformats.org/officeDocument/2006/relationships/image" Target="../media/image-3-2.png"/><Relationship Id="rId6" Type="http://schemas.openxmlformats.org/officeDocument/2006/relationships/image" Target="../media/image-3-3.png"/><Relationship Id="rId8" Type="http://schemas.openxmlformats.org/officeDocument/2006/relationships/image" Target="../media/image-3-4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O3oPyaVwuSDak84CgE4xqk1jykADMsvYddNdYAzc_vw/edit" TargetMode="External"/><Relationship Id="rId3" Type="http://schemas.openxmlformats.org/officeDocument/2006/relationships/hyperlink" Target="https://docs.google.com/document/d/1O3oPyaVwuSDak84CgE4xqk1jykADMsvYddNdYAzc_vw/edit" TargetMode="Externa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O3oPyaVwuSDak84CgE4xqk1jykADMsvYddNdYAzc_vw/edit" TargetMode="External"/><Relationship Id="rId3" Type="http://schemas.openxmlformats.org/officeDocument/2006/relationships/hyperlink" Target="https://docs.google.com/document/d/1O3oPyaVwuSDak84CgE4xqk1jykADMsvYddNdYAzc_vw/edit" TargetMode="Externa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O3oPyaVwuSDak84CgE4xqk1jykADMsvYddNdYAzc_vw/edit" TargetMode="External"/><Relationship Id="rId3" Type="http://schemas.openxmlformats.org/officeDocument/2006/relationships/hyperlink" Target="https://docs.google.com/document/d/1O3oPyaVwuSDak84CgE4xqk1jykADMsvYddNdYAzc_vw/edit" TargetMode="Externa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O3oPyaVwuSDak84CgE4xqk1jykADMsvYddNdYAzc_vw/edit" TargetMode="External"/><Relationship Id="rId3" Type="http://schemas.openxmlformats.org/officeDocument/2006/relationships/hyperlink" Target="https://docs.google.com/document/d/1O3oPyaVwuSDak84CgE4xqk1jykADMsvYddNdYAzc_vw/edit" TargetMode="Externa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O3oPyaVwuSDak84CgE4xqk1jykADMsvYddNdYAzc_vw/edi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O3oPyaVwuSDak84CgE4xqk1jykADMsvYddNdYAzc_vw/edit" TargetMode="External"/><Relationship Id="rId2" Type="http://schemas.openxmlformats.org/officeDocument/2006/relationships/hyperlink" Target="https://docs.google.com/document/d/1O3oPyaVwuSDak84CgE4xqk1jykADMsvYddNdYAzc_vw/edit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O3oPyaVwuSDak84CgE4xqk1jykADMsvYddNdYAzc_vw/edit" TargetMode="Externa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O3oPyaVwuSDak84CgE4xqk1jykADMsvYddNdYAzc_vw/edit" TargetMode="Externa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image" Target="../media/image-11-5.png"/><Relationship Id="rId7" Type="http://schemas.openxmlformats.org/officeDocument/2006/relationships/image" Target="../media/image-11-6.png"/><Relationship Id="rId8" Type="http://schemas.openxmlformats.org/officeDocument/2006/relationships/image" Target="../media/image-11-7.png"/><Relationship Id="rId9" Type="http://schemas.openxmlformats.org/officeDocument/2006/relationships/image" Target="../media/image-11-8.png"/><Relationship Id="rId10" Type="http://schemas.openxmlformats.org/officeDocument/2006/relationships/image" Target="../media/image-11-9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O3oPyaVwuSDak84CgE4xqk1jykADMsvYddNdYAzc_vw/edit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edictionmarket/cadac25f-7355-5a2e-945b-6583f4b657ab/scratchpad/deck/brand/rall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487168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32520" y="1965960"/>
            <a:ext cx="2377440" cy="2377440"/>
          </a:xfrm>
          <a:prstGeom prst="ellipse">
            <a:avLst/>
          </a:prstGeom>
          <a:solidFill>
            <a:srgbClr val="FF4E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2880360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· AUG 2026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40080" y="20574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Permissionless Campaigns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40080" y="2971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launch campaign · 4 activation pillars · every piece already written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sales call. No agency. No permission.”</a:t>
            </a:r>
            <a:endParaRPr lang="en-US" sz="1500" dirty="0"/>
          </a:p>
        </p:txBody>
      </p:sp>
      <p:sp>
        <p:nvSpPr>
          <p:cNvPr id="9" name="Text 5">
            <a:hlinkClick r:id="rId3" tooltip=""/>
          </p:cNvPr>
          <p:cNvSpPr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B79AC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campaign plan  ·  full copy &amp; scripts: Master Doc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RUN THIS CAMPAIGN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objectives, one launch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5" name="Text 3">
            <a:hlinkClick r:id="rId1" tooltip="Objectives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bjective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25043A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664208"/>
            <a:ext cx="566928" cy="566928"/>
          </a:xfrm>
          <a:prstGeom prst="ellipse">
            <a:avLst/>
          </a:prstGeom>
          <a:solidFill>
            <a:srgbClr val="FF4E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99" y="1817279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COMMUNITIES &amp; PROJECTS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5528" y="29077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i="1" dirty="0">
                <a:solidFill>
                  <a:srgbClr val="E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launch into signed demand.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5528" y="3346704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Verified cohort filled ($1,500 × N — the revenue line)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communities operating inside Rally (co-created campaign)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 worked 1:1 with one-pager + case study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5528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BB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Verified calls booked · cohort filled · communities claimed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25112" y="13716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8F1EC"/>
          </a:solidFill>
          <a:ln/>
        </p:spPr>
      </p:sp>
      <p:sp>
        <p:nvSpPr>
          <p:cNvPr id="14" name="Shape 11"/>
          <p:cNvSpPr/>
          <p:nvPr/>
        </p:nvSpPr>
        <p:spPr>
          <a:xfrm>
            <a:off x="4617720" y="1664208"/>
            <a:ext cx="566928" cy="566928"/>
          </a:xfrm>
          <a:prstGeom prst="ellipse">
            <a:avLst/>
          </a:prstGeom>
          <a:solidFill>
            <a:srgbClr val="25043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791" y="1817279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772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NARRATIVE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617720" y="29077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i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one story: marketing without gatekeepers.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617720" y="3346704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Video as acquisition engine — promoted at full throttle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KOLs launching real RLP-funded campaigns: the promotion IS the product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repeats the same hook, twice a week, for two weeks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1772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video reach · new sign-ups · campaigns created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147304" y="13716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8F1EC"/>
          </a:solidFill>
          <a:ln/>
        </p:spPr>
      </p:sp>
      <p:sp>
        <p:nvSpPr>
          <p:cNvPr id="21" name="Shape 17"/>
          <p:cNvSpPr/>
          <p:nvPr/>
        </p:nvSpPr>
        <p:spPr>
          <a:xfrm>
            <a:off x="8439912" y="1664208"/>
            <a:ext cx="566928" cy="566928"/>
          </a:xfrm>
          <a:prstGeom prst="ellipse">
            <a:avLst/>
          </a:prstGeom>
          <a:solidFill>
            <a:srgbClr val="25043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2983" y="1817279"/>
            <a:ext cx="260787" cy="2607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39912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THE CONCEPTS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439912" y="29077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i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that connects everything Rally has built.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439912" y="3346704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RLPs = working capital · Communities = distribution · Campaigns = the market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(open floor) vs Verified (main stage) — one clean mental model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at the vision: “Rally, the Hub of Communities”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439912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RLPs deployed into pools · consistent narrative across ~25 pieces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02920" y="589788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is designed so each pillar serves at least one objective — nothing publishes without a job.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activation pillars — everything else supports these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5" name="Text 3">
            <a:hlinkClick r:id="rId1" tooltip="Strategy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Strateg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532120" cy="2212848"/>
          </a:xfrm>
          <a:prstGeom prst="roundRect">
            <a:avLst>
              <a:gd name="adj" fmla="val 4132"/>
            </a:avLst>
          </a:prstGeom>
          <a:solidFill>
            <a:srgbClr val="F8F1E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27632"/>
            <a:ext cx="502920" cy="502920"/>
          </a:xfrm>
          <a:prstGeom prst="ellipse">
            <a:avLst/>
          </a:prstGeom>
          <a:solidFill>
            <a:srgbClr val="FF4E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55648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16093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PERMISSIONLESS VIDEO</a:t>
            </a:r>
            <a:endParaRPr lang="en-US" sz="1350" dirty="0"/>
          </a:p>
        </p:txBody>
      </p:sp>
      <p:sp>
        <p:nvSpPr>
          <p:cNvPr id="10" name="Text 7">
            <a:hlinkClick r:id="rId3" tooltip=""/>
          </p:cNvPr>
          <p:cNvSpPr/>
          <p:nvPr/>
        </p:nvSpPr>
        <p:spPr>
          <a:xfrm>
            <a:off x="4709160" y="1627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u="sng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§5, 11.5 ▸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35608" y="2066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hero. Everything derives from it.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13816" y="2414016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promoted at full throttle from Day 1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KOLs launch real permissionless campaigns funded in RLPs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· countdown · cutdowns · receipts thread keep it alive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1371600"/>
            <a:ext cx="5532120" cy="2212848"/>
          </a:xfrm>
          <a:prstGeom prst="roundRect">
            <a:avLst>
              <a:gd name="adj" fmla="val 4132"/>
            </a:avLst>
          </a:prstGeom>
          <a:solidFill>
            <a:srgbClr val="F8F1E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92240" y="1627632"/>
            <a:ext cx="502920" cy="502920"/>
          </a:xfrm>
          <a:prstGeom prst="ellipse">
            <a:avLst/>
          </a:prstGeom>
          <a:solidFill>
            <a:srgbClr val="25043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755648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50608" y="16093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SALES NARRATIVE &amp; CO-MARKETING</a:t>
            </a:r>
            <a:endParaRPr lang="en-US" sz="1350" dirty="0"/>
          </a:p>
        </p:txBody>
      </p:sp>
      <p:sp>
        <p:nvSpPr>
          <p:cNvPr id="17" name="Text 13">
            <a:hlinkClick r:id="rId5" tooltip=""/>
          </p:cNvPr>
          <p:cNvSpPr/>
          <p:nvPr/>
        </p:nvSpPr>
        <p:spPr>
          <a:xfrm>
            <a:off x="10424160" y="1627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u="sng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§6–7, 11 ▸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150608" y="2066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 communities and projects.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28816" y="2414016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 Network pitches + use-case articles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Projects (first cohort) + flagship co-created campaign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with real ROI → pipeline + “Hub of Communities” vision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" y="3767328"/>
            <a:ext cx="5532120" cy="2212848"/>
          </a:xfrm>
          <a:prstGeom prst="roundRect">
            <a:avLst>
              <a:gd name="adj" fmla="val 4132"/>
            </a:avLst>
          </a:prstGeom>
          <a:solidFill>
            <a:srgbClr val="F8F1EC"/>
          </a:solidFill>
          <a:ln/>
        </p:spPr>
      </p:sp>
      <p:sp>
        <p:nvSpPr>
          <p:cNvPr id="21" name="Shape 17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C43C0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151376"/>
            <a:ext cx="246888" cy="246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35608" y="4005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C4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CREATORS CREATING CAMPAIGNS</a:t>
            </a:r>
            <a:endParaRPr lang="en-US" sz="1350" dirty="0"/>
          </a:p>
        </p:txBody>
      </p:sp>
      <p:sp>
        <p:nvSpPr>
          <p:cNvPr id="24" name="Text 19">
            <a:hlinkClick r:id="rId7" tooltip=""/>
          </p:cNvPr>
          <p:cNvSpPr/>
          <p:nvPr/>
        </p:nvSpPr>
        <p:spPr>
          <a:xfrm>
            <a:off x="4709160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u="sng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§9, 11 ▸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435608" y="4462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from other voices.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13816" y="480974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launch campaigns with their RLPs — and tell it on video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Spotlight of the best community campaigns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Idea Battle: winning community idea gets funded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217920" y="3767328"/>
            <a:ext cx="5532120" cy="2212848"/>
          </a:xfrm>
          <a:prstGeom prst="roundRect">
            <a:avLst>
              <a:gd name="adj" fmla="val 4132"/>
            </a:avLst>
          </a:prstGeom>
          <a:solidFill>
            <a:srgbClr val="F8F1EC"/>
          </a:solidFill>
          <a:ln/>
        </p:spPr>
      </p:sp>
      <p:sp>
        <p:nvSpPr>
          <p:cNvPr id="28" name="Shape 23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6E558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4151376"/>
            <a:ext cx="246888" cy="2468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50608" y="4005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6E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CONCEPT EDUCATION</a:t>
            </a:r>
            <a:endParaRPr lang="en-US" sz="1350" dirty="0"/>
          </a:p>
        </p:txBody>
      </p:sp>
      <p:sp>
        <p:nvSpPr>
          <p:cNvPr id="31" name="Text 25">
            <a:hlinkClick r:id="rId9" tooltip=""/>
          </p:cNvPr>
          <p:cNvSpPr/>
          <p:nvPr/>
        </p:nvSpPr>
        <p:spPr>
          <a:xfrm>
            <a:off x="10424160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u="sng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§8, 10, 13 ▸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150608" y="4462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barrier to the first campaign.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528816" y="480974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It Works” · “Why RLPs Matter” · brief-writing guide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 campaign launched in 10 minutes, on stream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Space debrief + AMAs — objections answered in public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2504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85800" cy="685800"/>
          </a:xfrm>
          <a:prstGeom prst="ellipse">
            <a:avLst/>
          </a:prstGeom>
          <a:solidFill>
            <a:srgbClr val="FF4E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1191006"/>
            <a:ext cx="315468" cy="315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Permissionless Video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FF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acquisition narrative + concept unification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heavy production, ~25 pieces living off it — maximum leverage per euro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KOLs don't do ad reads: they launch real campaigns funded in RLPs. Their audience watches the product work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 carries the whole story: “Every campaign you've seen here was ours. That ends today.”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457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&amp; TIMING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11" name="Text 8">
            <a:hlinkClick r:id="rId2" tooltip="The Permissionless Video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The Permissionless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06240" y="9144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11521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F4E00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11521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13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0" y="9692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15s — “Something permissionless is coming”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06240" y="18288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17" name="Shape 14"/>
          <p:cNvSpPr/>
          <p:nvPr/>
        </p:nvSpPr>
        <p:spPr>
          <a:xfrm>
            <a:off x="4434840" y="20665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F4E00"/>
          </a:solidFill>
          <a:ln/>
        </p:spPr>
      </p:sp>
      <p:sp>
        <p:nvSpPr>
          <p:cNvPr id="18" name="Text 15"/>
          <p:cNvSpPr/>
          <p:nvPr/>
        </p:nvSpPr>
        <p:spPr>
          <a:xfrm>
            <a:off x="4434840" y="20665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14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0" y="18836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post — launch date reveal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06240" y="27432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1" name="Shape 18"/>
          <p:cNvSpPr/>
          <p:nvPr/>
        </p:nvSpPr>
        <p:spPr>
          <a:xfrm>
            <a:off x="4434840" y="29809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F4E00"/>
          </a:solidFill>
          <a:ln/>
        </p:spPr>
      </p:sp>
      <p:sp>
        <p:nvSpPr>
          <p:cNvPr id="22" name="Text 19"/>
          <p:cNvSpPr/>
          <p:nvPr/>
        </p:nvSpPr>
        <p:spPr>
          <a:xfrm>
            <a:off x="4434840" y="2980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17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0" y="27980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(100s, script locked) + launch thread pinned + mailing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206240" y="36576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5" name="Shape 22"/>
          <p:cNvSpPr/>
          <p:nvPr/>
        </p:nvSpPr>
        <p:spPr>
          <a:xfrm>
            <a:off x="4434840" y="38953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F4E00"/>
          </a:solidFill>
          <a:ln/>
        </p:spPr>
      </p:sp>
      <p:sp>
        <p:nvSpPr>
          <p:cNvPr id="26" name="Text 23"/>
          <p:cNvSpPr/>
          <p:nvPr/>
        </p:nvSpPr>
        <p:spPr>
          <a:xfrm>
            <a:off x="4434840" y="38953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17→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6400" y="37124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activation: real RLP-funded campaigns + coordinated QT push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06240" y="45720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9" name="Shape 26"/>
          <p:cNvSpPr/>
          <p:nvPr/>
        </p:nvSpPr>
        <p:spPr>
          <a:xfrm>
            <a:off x="4434840" y="48097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F4E00"/>
          </a:solidFill>
          <a:ln/>
        </p:spPr>
      </p:sp>
      <p:sp>
        <p:nvSpPr>
          <p:cNvPr id="30" name="Text 27"/>
          <p:cNvSpPr/>
          <p:nvPr/>
        </p:nvSpPr>
        <p:spPr>
          <a:xfrm>
            <a:off x="4434840" y="48097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486400" y="46268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Cutdowns 15s / 30s — fresh angles keep it circulating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206240" y="54864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33" name="Shape 30"/>
          <p:cNvSpPr/>
          <p:nvPr/>
        </p:nvSpPr>
        <p:spPr>
          <a:xfrm>
            <a:off x="4434840" y="57241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F4E00"/>
          </a:solidFill>
          <a:ln/>
        </p:spPr>
      </p:sp>
      <p:sp>
        <p:nvSpPr>
          <p:cNvPr id="34" name="Text 31"/>
          <p:cNvSpPr/>
          <p:nvPr/>
        </p:nvSpPr>
        <p:spPr>
          <a:xfrm>
            <a:off x="4434840" y="57241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28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486400" y="55412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“Anatomy of a Campaign” receipts thread — the video, proven with screenshots</a:t>
            </a:r>
            <a:endParaRPr lang="en-US" sz="1200" dirty="0"/>
          </a:p>
        </p:txBody>
      </p:sp>
      <p:sp>
        <p:nvSpPr>
          <p:cNvPr id="36" name="Text 33">
            <a:hlinkClick r:id="rId3" tooltip=""/>
          </p:cNvPr>
          <p:cNvSpPr/>
          <p:nvPr/>
        </p:nvSpPr>
        <p:spPr>
          <a:xfrm>
            <a:off x="4206240" y="6446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§4–5, 11.5  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2504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85800" cy="685800"/>
          </a:xfrm>
          <a:prstGeom prst="ellipse">
            <a:avLst/>
          </a:prstGeom>
          <a:solidFill>
            <a:srgbClr val="2504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1191006"/>
            <a:ext cx="315468" cy="315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Narrative &amp; Co-marketing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CBB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close communities &amp; projects (the revenue line)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clean offers: Network (open floor, free) vs Verified (main stage, $1,500)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Co-marketing built in: projects launch WITH us — Call for Projects, flagship co-created campaign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doubles as sales material: one-pager, comparison visual, use cases, case study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457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&amp; TIMING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11" name="Text 8">
            <a:hlinkClick r:id="rId2" tooltip="Sales Narrative &amp; Co-marketing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Sales Narrative &amp; Co-market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06240" y="9144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11521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25043A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11521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18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0" y="9692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thread + “Why Verified — 5 Use Cases” + one-pager → pipeline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06240" y="18288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17" name="Shape 14"/>
          <p:cNvSpPr/>
          <p:nvPr/>
        </p:nvSpPr>
        <p:spPr>
          <a:xfrm>
            <a:off x="4434840" y="20665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25043A"/>
          </a:solidFill>
          <a:ln/>
        </p:spPr>
      </p:sp>
      <p:sp>
        <p:nvSpPr>
          <p:cNvPr id="18" name="Text 15"/>
          <p:cNvSpPr/>
          <p:nvPr/>
        </p:nvSpPr>
        <p:spPr>
          <a:xfrm>
            <a:off x="4434840" y="20665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19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0" y="18836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thread + Verified vs Network visual + CALL FOR PROJECTS (first cohort)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06240" y="27432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1" name="Shape 18"/>
          <p:cNvSpPr/>
          <p:nvPr/>
        </p:nvSpPr>
        <p:spPr>
          <a:xfrm>
            <a:off x="4434840" y="29809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25043A"/>
          </a:solidFill>
          <a:ln/>
        </p:spPr>
      </p:sp>
      <p:sp>
        <p:nvSpPr>
          <p:cNvPr id="22" name="Text 19"/>
          <p:cNvSpPr/>
          <p:nvPr/>
        </p:nvSpPr>
        <p:spPr>
          <a:xfrm>
            <a:off x="4434840" y="2980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21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0" y="27980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co-created campaign goes live (partner community)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206240" y="36576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5" name="Shape 22"/>
          <p:cNvSpPr/>
          <p:nvPr/>
        </p:nvSpPr>
        <p:spPr>
          <a:xfrm>
            <a:off x="4434840" y="38953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25043A"/>
          </a:solidFill>
          <a:ln/>
        </p:spPr>
      </p:sp>
      <p:sp>
        <p:nvSpPr>
          <p:cNvPr id="26" name="Text 23"/>
          <p:cNvSpPr/>
          <p:nvPr/>
        </p:nvSpPr>
        <p:spPr>
          <a:xfrm>
            <a:off x="4434840" y="38953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W1–W2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6400" y="37124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outreach to Sept–Oct launches — the video is the pitch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06240" y="45720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9" name="Shape 26"/>
          <p:cNvSpPr/>
          <p:nvPr/>
        </p:nvSpPr>
        <p:spPr>
          <a:xfrm>
            <a:off x="4434840" y="48097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25043A"/>
          </a:solidFill>
          <a:ln/>
        </p:spPr>
      </p:sp>
      <p:sp>
        <p:nvSpPr>
          <p:cNvPr id="30" name="Text 27"/>
          <p:cNvSpPr/>
          <p:nvPr/>
        </p:nvSpPr>
        <p:spPr>
          <a:xfrm>
            <a:off x="4434840" y="48097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26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486400" y="46268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“10 days after the video” + sales article → pipeline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206240" y="54864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33" name="Shape 30"/>
          <p:cNvSpPr/>
          <p:nvPr/>
        </p:nvSpPr>
        <p:spPr>
          <a:xfrm>
            <a:off x="4434840" y="57241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25043A"/>
          </a:solidFill>
          <a:ln/>
        </p:spPr>
      </p:sp>
      <p:sp>
        <p:nvSpPr>
          <p:cNvPr id="34" name="Text 31"/>
          <p:cNvSpPr/>
          <p:nvPr/>
        </p:nvSpPr>
        <p:spPr>
          <a:xfrm>
            <a:off x="4434840" y="57241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27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486400" y="55412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“Rally, the Hub of Communities” — the story that closes communities</a:t>
            </a:r>
            <a:endParaRPr lang="en-US" sz="1200" dirty="0"/>
          </a:p>
        </p:txBody>
      </p:sp>
      <p:sp>
        <p:nvSpPr>
          <p:cNvPr id="36" name="Text 33">
            <a:hlinkClick r:id="rId3" tooltip=""/>
          </p:cNvPr>
          <p:cNvSpPr/>
          <p:nvPr/>
        </p:nvSpPr>
        <p:spPr>
          <a:xfrm>
            <a:off x="4206240" y="6446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§6–7, 11.3–11.4  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2504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85800" cy="685800"/>
          </a:xfrm>
          <a:prstGeom prst="ellipse">
            <a:avLst/>
          </a:prstGeom>
          <a:solidFill>
            <a:srgbClr val="C43C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1191006"/>
            <a:ext cx="315468" cy="315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Creating Campaigns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CBB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acquisition narrative + social proof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only lands when someone who isn't us says it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spend their own RLPs on their own campaigns — the loop, demonstrated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content compounds: every spotlight makes the next creator want 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457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&amp; TIMING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11" name="Text 8">
            <a:hlinkClick r:id="rId2" tooltip="Creators Creating Campaigns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Creators Creating Campaign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06240" y="9144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11521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C43C00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11521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0" y="9692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video #1 — “I launched a campaign, here's what happened” (their words)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06240" y="18288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17" name="Shape 14"/>
          <p:cNvSpPr/>
          <p:nvPr/>
        </p:nvSpPr>
        <p:spPr>
          <a:xfrm>
            <a:off x="4434840" y="20665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C43C00"/>
          </a:solidFill>
          <a:ln/>
        </p:spPr>
      </p:sp>
      <p:sp>
        <p:nvSpPr>
          <p:cNvPr id="18" name="Text 15"/>
          <p:cNvSpPr/>
          <p:nvPr/>
        </p:nvSpPr>
        <p:spPr>
          <a:xfrm>
            <a:off x="4434840" y="20665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24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0" y="18836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thread: best community campaigns (recurring every Monday)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06240" y="27432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1" name="Shape 18"/>
          <p:cNvSpPr/>
          <p:nvPr/>
        </p:nvSpPr>
        <p:spPr>
          <a:xfrm>
            <a:off x="4434840" y="29809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C43C00"/>
          </a:solidFill>
          <a:ln/>
        </p:spPr>
      </p:sp>
      <p:sp>
        <p:nvSpPr>
          <p:cNvPr id="22" name="Text 19"/>
          <p:cNvSpPr/>
          <p:nvPr/>
        </p:nvSpPr>
        <p:spPr>
          <a:xfrm>
            <a:off x="4434840" y="2980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25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0" y="27980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video #2 — community-lead POV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206240" y="36576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5" name="Shape 22"/>
          <p:cNvSpPr/>
          <p:nvPr/>
        </p:nvSpPr>
        <p:spPr>
          <a:xfrm>
            <a:off x="4434840" y="38953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C43C00"/>
          </a:solidFill>
          <a:ln/>
        </p:spPr>
      </p:sp>
      <p:sp>
        <p:nvSpPr>
          <p:cNvPr id="26" name="Text 23"/>
          <p:cNvSpPr/>
          <p:nvPr/>
        </p:nvSpPr>
        <p:spPr>
          <a:xfrm>
            <a:off x="4434840" y="38953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6400" y="37124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feeds the Battle: “What would you launch a campaign for?”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06240" y="45720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9" name="Shape 26"/>
          <p:cNvSpPr/>
          <p:nvPr/>
        </p:nvSpPr>
        <p:spPr>
          <a:xfrm>
            <a:off x="4434840" y="48097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C43C00"/>
          </a:solidFill>
          <a:ln/>
        </p:spPr>
      </p:sp>
      <p:sp>
        <p:nvSpPr>
          <p:cNvPr id="30" name="Text 27"/>
          <p:cNvSpPr/>
          <p:nvPr/>
        </p:nvSpPr>
        <p:spPr>
          <a:xfrm>
            <a:off x="4434840" y="48097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29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486400" y="46268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Idea Battle — the winning community idea gets funded for real</a:t>
            </a:r>
            <a:endParaRPr lang="en-US" sz="1200" dirty="0"/>
          </a:p>
        </p:txBody>
      </p:sp>
      <p:sp>
        <p:nvSpPr>
          <p:cNvPr id="32" name="Text 29">
            <a:hlinkClick r:id="rId3" tooltip=""/>
          </p:cNvPr>
          <p:cNvSpPr/>
          <p:nvPr/>
        </p:nvSpPr>
        <p:spPr>
          <a:xfrm>
            <a:off x="4206240" y="6446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§9, 11.1–11.2, 11.6  ▸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2504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85800" cy="685800"/>
          </a:xfrm>
          <a:prstGeom prst="ellipse">
            <a:avLst/>
          </a:prstGeom>
          <a:solidFill>
            <a:srgbClr val="6E55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1191006"/>
            <a:ext cx="315468" cy="315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Education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CBB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concept unification + lowering the barrier to campaign #1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from idea to live — but only if people know how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content is evergreen: it keeps converting after the campaign ends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answered in public build trust faster than any 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457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&amp; TIMING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11" name="Text 8">
            <a:hlinkClick r:id="rId2" tooltip="Concept Education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Concept Educ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06240" y="9144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11521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6E5588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11521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17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0" y="9692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Article: “Permissionless Campaigns — How It Works” (evergreen explainer)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06240" y="18288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17" name="Shape 14"/>
          <p:cNvSpPr/>
          <p:nvPr/>
        </p:nvSpPr>
        <p:spPr>
          <a:xfrm>
            <a:off x="4434840" y="20665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6E5588"/>
          </a:solidFill>
          <a:ln/>
        </p:spPr>
      </p:sp>
      <p:sp>
        <p:nvSpPr>
          <p:cNvPr id="18" name="Text 15"/>
          <p:cNvSpPr/>
          <p:nvPr/>
        </p:nvSpPr>
        <p:spPr>
          <a:xfrm>
            <a:off x="4434840" y="20665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19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0" y="18836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Article: “Why RLPs Matter” — points become working capital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06240" y="27432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1" name="Shape 18"/>
          <p:cNvSpPr/>
          <p:nvPr/>
        </p:nvSpPr>
        <p:spPr>
          <a:xfrm>
            <a:off x="4434840" y="29809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6E5588"/>
          </a:solidFill>
          <a:ln/>
        </p:spPr>
      </p:sp>
      <p:sp>
        <p:nvSpPr>
          <p:cNvPr id="22" name="Text 19"/>
          <p:cNvSpPr/>
          <p:nvPr/>
        </p:nvSpPr>
        <p:spPr>
          <a:xfrm>
            <a:off x="4434840" y="2980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20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0" y="27980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“Launch a campaign in 10 minutes” + guide “How to Write a Campaign Brief”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206240" y="36576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5" name="Shape 22"/>
          <p:cNvSpPr/>
          <p:nvPr/>
        </p:nvSpPr>
        <p:spPr>
          <a:xfrm>
            <a:off x="4434840" y="38953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6E5588"/>
          </a:solidFill>
          <a:ln/>
        </p:spPr>
      </p:sp>
      <p:sp>
        <p:nvSpPr>
          <p:cNvPr id="26" name="Text 23"/>
          <p:cNvSpPr/>
          <p:nvPr/>
        </p:nvSpPr>
        <p:spPr>
          <a:xfrm>
            <a:off x="4434840" y="38953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22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6400" y="37124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Space: Creators &amp; Partners AMA — first campaigns debrief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06240" y="4572000"/>
            <a:ext cx="7498080" cy="786384"/>
          </a:xfrm>
          <a:prstGeom prst="roundRect">
            <a:avLst>
              <a:gd name="adj" fmla="val 9302"/>
            </a:avLst>
          </a:prstGeom>
          <a:solidFill>
            <a:srgbClr val="F8F1EC"/>
          </a:solidFill>
          <a:ln/>
        </p:spPr>
      </p:sp>
      <p:sp>
        <p:nvSpPr>
          <p:cNvPr id="29" name="Shape 26"/>
          <p:cNvSpPr/>
          <p:nvPr/>
        </p:nvSpPr>
        <p:spPr>
          <a:xfrm>
            <a:off x="4434840" y="480974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6E5588"/>
          </a:solidFill>
          <a:ln/>
        </p:spPr>
      </p:sp>
      <p:sp>
        <p:nvSpPr>
          <p:cNvPr id="30" name="Text 27"/>
          <p:cNvSpPr/>
          <p:nvPr/>
        </p:nvSpPr>
        <p:spPr>
          <a:xfrm>
            <a:off x="4434840" y="48097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486400" y="46268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cheat sheet + tagline bank (Spaces, AMAs, replies)</a:t>
            </a:r>
            <a:endParaRPr lang="en-US" sz="1200" dirty="0"/>
          </a:p>
        </p:txBody>
      </p:sp>
      <p:sp>
        <p:nvSpPr>
          <p:cNvPr id="32" name="Text 29">
            <a:hlinkClick r:id="rId3" tooltip=""/>
          </p:cNvPr>
          <p:cNvSpPr/>
          <p:nvPr/>
        </p:nvSpPr>
        <p:spPr>
          <a:xfrm>
            <a:off x="4206240" y="6446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§5.4, 7.5, 8, 10, 13  ▸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 · color-coded by pillar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5" name="Text 3">
            <a:hlinkClick r:id="rId1" tooltip="Calendar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alenda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298448"/>
            <a:ext cx="146304" cy="146304"/>
          </a:xfrm>
          <a:prstGeom prst="ellipse">
            <a:avLst/>
          </a:prstGeom>
          <a:solidFill>
            <a:srgbClr val="FF4E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16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00784" y="1298448"/>
            <a:ext cx="146304" cy="146304"/>
          </a:xfrm>
          <a:prstGeom prst="ellipse">
            <a:avLst/>
          </a:prstGeom>
          <a:solidFill>
            <a:srgbClr val="25043A"/>
          </a:solidFill>
          <a:ln/>
        </p:spPr>
      </p:sp>
      <p:sp>
        <p:nvSpPr>
          <p:cNvPr id="9" name="Text 7"/>
          <p:cNvSpPr/>
          <p:nvPr/>
        </p:nvSpPr>
        <p:spPr>
          <a:xfrm>
            <a:off x="1901952" y="1216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71216" y="1298448"/>
            <a:ext cx="146304" cy="146304"/>
          </a:xfrm>
          <a:prstGeom prst="ellipse">
            <a:avLst/>
          </a:prstGeom>
          <a:solidFill>
            <a:srgbClr val="C43C00"/>
          </a:solidFill>
          <a:ln/>
        </p:spPr>
      </p:sp>
      <p:sp>
        <p:nvSpPr>
          <p:cNvPr id="11" name="Text 9"/>
          <p:cNvSpPr/>
          <p:nvPr/>
        </p:nvSpPr>
        <p:spPr>
          <a:xfrm>
            <a:off x="3072384" y="1216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41648" y="1298448"/>
            <a:ext cx="146304" cy="146304"/>
          </a:xfrm>
          <a:prstGeom prst="ellipse">
            <a:avLst/>
          </a:prstGeom>
          <a:solidFill>
            <a:srgbClr val="6E5588"/>
          </a:solidFill>
          <a:ln/>
        </p:spPr>
      </p:sp>
      <p:sp>
        <p:nvSpPr>
          <p:cNvPr id="13" name="Text 11"/>
          <p:cNvSpPr/>
          <p:nvPr/>
        </p:nvSpPr>
        <p:spPr>
          <a:xfrm>
            <a:off x="4242816" y="1216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0" y="1216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PRE-LAUNCH: Thu 13 teaser · Fri 14 countdown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1627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LAUNCH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192024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2504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029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17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01368" y="2075688"/>
            <a:ext cx="137160" cy="137160"/>
          </a:xfrm>
          <a:prstGeom prst="ellipse">
            <a:avLst/>
          </a:prstGeom>
          <a:solidFill>
            <a:srgbClr val="FF4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581912" y="2075688"/>
            <a:ext cx="137160" cy="137160"/>
          </a:xfrm>
          <a:prstGeom prst="ellipse">
            <a:avLst/>
          </a:prstGeom>
          <a:solidFill>
            <a:srgbClr val="6E55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04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+ thread + mailing + KOL campaigns + How-It-Works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86584" y="192024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23" name="Text 21"/>
          <p:cNvSpPr/>
          <p:nvPr/>
        </p:nvSpPr>
        <p:spPr>
          <a:xfrm>
            <a:off x="2523744" y="2029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85032" y="2075688"/>
            <a:ext cx="137160" cy="137160"/>
          </a:xfrm>
          <a:prstGeom prst="ellipse">
            <a:avLst/>
          </a:prstGeom>
          <a:solidFill>
            <a:srgbClr val="25043A"/>
          </a:solidFill>
          <a:ln/>
        </p:spPr>
      </p:sp>
      <p:sp>
        <p:nvSpPr>
          <p:cNvPr id="25" name="Text 23"/>
          <p:cNvSpPr/>
          <p:nvPr/>
        </p:nvSpPr>
        <p:spPr>
          <a:xfrm>
            <a:off x="2523744" y="2304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23744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$1,500 + use cases + one-pager → pipeline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70248" y="192024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28" name="Text 26"/>
          <p:cNvSpPr/>
          <p:nvPr/>
        </p:nvSpPr>
        <p:spPr>
          <a:xfrm>
            <a:off x="4407408" y="2029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19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68696" y="2075688"/>
            <a:ext cx="137160" cy="137160"/>
          </a:xfrm>
          <a:prstGeom prst="ellipse">
            <a:avLst/>
          </a:prstGeom>
          <a:solidFill>
            <a:srgbClr val="25043A"/>
          </a:solidFill>
          <a:ln/>
        </p:spPr>
      </p:sp>
      <p:sp>
        <p:nvSpPr>
          <p:cNvPr id="30" name="Shape 28"/>
          <p:cNvSpPr/>
          <p:nvPr/>
        </p:nvSpPr>
        <p:spPr>
          <a:xfrm>
            <a:off x="5349240" y="2075688"/>
            <a:ext cx="137160" cy="137160"/>
          </a:xfrm>
          <a:prstGeom prst="ellipse">
            <a:avLst/>
          </a:prstGeom>
          <a:solidFill>
            <a:srgbClr val="6E5588"/>
          </a:solidFill>
          <a:ln/>
        </p:spPr>
      </p:sp>
      <p:sp>
        <p:nvSpPr>
          <p:cNvPr id="31" name="Text 29"/>
          <p:cNvSpPr/>
          <p:nvPr/>
        </p:nvSpPr>
        <p:spPr>
          <a:xfrm>
            <a:off x="4407408" y="2304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07408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+ comparison visual + Call for Projects + RLPs article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53912" y="192024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34" name="Text 32"/>
          <p:cNvSpPr/>
          <p:nvPr/>
        </p:nvSpPr>
        <p:spPr>
          <a:xfrm>
            <a:off x="6291072" y="2029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20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52360" y="2075688"/>
            <a:ext cx="137160" cy="137160"/>
          </a:xfrm>
          <a:prstGeom prst="ellipse">
            <a:avLst/>
          </a:prstGeom>
          <a:solidFill>
            <a:srgbClr val="6E5588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2304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91072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 minutes” live build + brief guide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37576" y="192024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39" name="Text 37"/>
          <p:cNvSpPr/>
          <p:nvPr/>
        </p:nvSpPr>
        <p:spPr>
          <a:xfrm>
            <a:off x="8174736" y="2029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36024" y="2075688"/>
            <a:ext cx="137160" cy="137160"/>
          </a:xfrm>
          <a:prstGeom prst="ellipse">
            <a:avLst/>
          </a:prstGeom>
          <a:solidFill>
            <a:srgbClr val="C43C00"/>
          </a:solidFill>
          <a:ln/>
        </p:spPr>
      </p:sp>
      <p:sp>
        <p:nvSpPr>
          <p:cNvPr id="41" name="Shape 39"/>
          <p:cNvSpPr/>
          <p:nvPr/>
        </p:nvSpPr>
        <p:spPr>
          <a:xfrm>
            <a:off x="9116568" y="2075688"/>
            <a:ext cx="137160" cy="137160"/>
          </a:xfrm>
          <a:prstGeom prst="ellipse">
            <a:avLst/>
          </a:prstGeom>
          <a:solidFill>
            <a:srgbClr val="25043A"/>
          </a:solidFill>
          <a:ln/>
        </p:spPr>
      </p:sp>
      <p:sp>
        <p:nvSpPr>
          <p:cNvPr id="42" name="Text 40"/>
          <p:cNvSpPr/>
          <p:nvPr/>
        </p:nvSpPr>
        <p:spPr>
          <a:xfrm>
            <a:off x="8174736" y="2304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Video #1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174736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+ flagship co-created campaign live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921240" y="192024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0" y="2029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22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1219688" y="2075688"/>
            <a:ext cx="137160" cy="137160"/>
          </a:xfrm>
          <a:prstGeom prst="ellipse">
            <a:avLst/>
          </a:prstGeom>
          <a:solidFill>
            <a:srgbClr val="6E5588"/>
          </a:solidFill>
          <a:ln/>
        </p:spPr>
      </p:sp>
      <p:sp>
        <p:nvSpPr>
          <p:cNvPr id="47" name="Text 45"/>
          <p:cNvSpPr/>
          <p:nvPr/>
        </p:nvSpPr>
        <p:spPr>
          <a:xfrm>
            <a:off x="10058400" y="2304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058400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Space: creators &amp; partners AMA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3959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SOCIAL PROOF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" y="425196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4361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801368" y="4407408"/>
            <a:ext cx="137160" cy="137160"/>
          </a:xfrm>
          <a:prstGeom prst="ellipse">
            <a:avLst/>
          </a:prstGeom>
          <a:solidFill>
            <a:srgbClr val="C43C00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40080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community campaigns (every Monday)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386584" y="425196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56" name="Text 54"/>
          <p:cNvSpPr/>
          <p:nvPr/>
        </p:nvSpPr>
        <p:spPr>
          <a:xfrm>
            <a:off x="2523744" y="4361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25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685032" y="4407408"/>
            <a:ext cx="137160" cy="137160"/>
          </a:xfrm>
          <a:prstGeom prst="ellipse">
            <a:avLst/>
          </a:prstGeom>
          <a:solidFill>
            <a:srgbClr val="C43C00"/>
          </a:solidFill>
          <a:ln/>
        </p:spPr>
      </p:sp>
      <p:sp>
        <p:nvSpPr>
          <p:cNvPr id="58" name="Text 56"/>
          <p:cNvSpPr/>
          <p:nvPr/>
        </p:nvSpPr>
        <p:spPr>
          <a:xfrm>
            <a:off x="2523744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Video #2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2523744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community-lead testimonial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70248" y="425196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61" name="Text 59"/>
          <p:cNvSpPr/>
          <p:nvPr/>
        </p:nvSpPr>
        <p:spPr>
          <a:xfrm>
            <a:off x="4407408" y="4361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26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568696" y="4407408"/>
            <a:ext cx="137160" cy="137160"/>
          </a:xfrm>
          <a:prstGeom prst="ellipse">
            <a:avLst/>
          </a:prstGeom>
          <a:solidFill>
            <a:srgbClr val="25043A"/>
          </a:solidFill>
          <a:ln/>
        </p:spPr>
      </p:sp>
      <p:sp>
        <p:nvSpPr>
          <p:cNvPr id="63" name="Text 61"/>
          <p:cNvSpPr/>
          <p:nvPr/>
        </p:nvSpPr>
        <p:spPr>
          <a:xfrm>
            <a:off x="4407408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407408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 days after” + sales article → pipeline + KOL push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53912" y="425196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66" name="Text 64"/>
          <p:cNvSpPr/>
          <p:nvPr/>
        </p:nvSpPr>
        <p:spPr>
          <a:xfrm>
            <a:off x="6291072" y="4361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27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452360" y="4407408"/>
            <a:ext cx="137160" cy="137160"/>
          </a:xfrm>
          <a:prstGeom prst="ellipse">
            <a:avLst/>
          </a:prstGeom>
          <a:solidFill>
            <a:srgbClr val="25043A"/>
          </a:solidFill>
          <a:ln/>
        </p:spPr>
      </p:sp>
      <p:sp>
        <p:nvSpPr>
          <p:cNvPr id="68" name="Text 66"/>
          <p:cNvSpPr/>
          <p:nvPr/>
        </p:nvSpPr>
        <p:spPr>
          <a:xfrm>
            <a:off x="6291072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291072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“Rally, the Hub of Communities”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037576" y="425196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71" name="Text 69"/>
          <p:cNvSpPr/>
          <p:nvPr/>
        </p:nvSpPr>
        <p:spPr>
          <a:xfrm>
            <a:off x="8174736" y="4361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28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336024" y="4407408"/>
            <a:ext cx="137160" cy="137160"/>
          </a:xfrm>
          <a:prstGeom prst="ellipse">
            <a:avLst/>
          </a:prstGeom>
          <a:solidFill>
            <a:srgbClr val="FF4E00"/>
          </a:solidFill>
          <a:ln/>
        </p:spPr>
      </p:sp>
      <p:sp>
        <p:nvSpPr>
          <p:cNvPr id="73" name="Text 71"/>
          <p:cNvSpPr/>
          <p:nvPr/>
        </p:nvSpPr>
        <p:spPr>
          <a:xfrm>
            <a:off x="8174736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174736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thread (screenshots) + cutdown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921240" y="4251960"/>
            <a:ext cx="1792224" cy="1965960"/>
          </a:xfrm>
          <a:prstGeom prst="roundRect">
            <a:avLst>
              <a:gd name="adj" fmla="val 4082"/>
            </a:avLst>
          </a:prstGeom>
          <a:solidFill>
            <a:srgbClr val="F8F1EC"/>
          </a:solidFill>
          <a:ln/>
        </p:spPr>
      </p:sp>
      <p:sp>
        <p:nvSpPr>
          <p:cNvPr id="76" name="Text 74"/>
          <p:cNvSpPr/>
          <p:nvPr/>
        </p:nvSpPr>
        <p:spPr>
          <a:xfrm>
            <a:off x="10058400" y="4361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29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1219688" y="4407408"/>
            <a:ext cx="137160" cy="137160"/>
          </a:xfrm>
          <a:prstGeom prst="ellipse">
            <a:avLst/>
          </a:prstGeom>
          <a:solidFill>
            <a:srgbClr val="C43C00"/>
          </a:solidFill>
          <a:ln/>
        </p:spPr>
      </p:sp>
      <p:sp>
        <p:nvSpPr>
          <p:cNvPr id="78" name="Text 76"/>
          <p:cNvSpPr/>
          <p:nvPr/>
        </p:nvSpPr>
        <p:spPr>
          <a:xfrm>
            <a:off x="10058400" y="4636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Day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10058400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+ Campaign Idea Battle (winner funded)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design — all copy is final, design never waits for text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5" name="Text 3">
            <a:hlinkClick r:id="rId1" tooltip="Design requests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Design reques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2504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642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· BEFORE THE DROP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956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B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Aug 12–14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edit (script locked) — the only heavy lift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15s + countdown graphic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kit for communities, creators &amp; KOLs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images (thread + article) + email header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8F1EC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6642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LAUNCH WEEK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9432" y="1956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Aug 17–21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9432" y="23774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one-pager PDF (the sales asset)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vs Network comparison visual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Projects banner + form header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X Space covers · 2 cutdowns · video lower-thirds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7304" y="14173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8F1EC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16642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· SOCIAL PROOF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21624" y="1956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Aug 24–26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21624" y="23774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template (reusable every Monday)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Big-number stat template (case study + numbers posts)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cover + Idea Battle bracket</a:t>
            </a:r>
            <a:endParaRPr lang="en-US" sz="1150" dirty="0"/>
          </a:p>
        </p:txBody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502920" y="589788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 assets · 3 waves · full spec table with per-asset deadlines in the Master Doc §12  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KIT · ALREADY PRODUCED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&amp; launch day — ready to post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5" name="Text 3">
            <a:hlinkClick r:id="rId1" tooltip="Design kit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Design ki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" y="1563624"/>
            <a:ext cx="3685032" cy="2103120"/>
          </a:xfrm>
          <a:prstGeom prst="roundRect">
            <a:avLst>
              <a:gd name="adj" fmla="val 2609"/>
            </a:avLst>
          </a:prstGeom>
          <a:solidFill>
            <a:srgbClr val="F8F1EC"/>
          </a:solidFill>
          <a:ln/>
        </p:spPr>
      </p:sp>
      <p:pic>
        <p:nvPicPr>
          <p:cNvPr id="7" name="Image 0" descr="/tmp/claude-0/-home-user-predictionmarket/cadac25f-7355-5a2e-945b-6583f4b657ab/scratchpad/deck/designs/teaser_coming_1600x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3611880" cy="20299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758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· THU 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61104" y="1563624"/>
            <a:ext cx="3685032" cy="2103120"/>
          </a:xfrm>
          <a:prstGeom prst="roundRect">
            <a:avLst>
              <a:gd name="adj" fmla="val 2609"/>
            </a:avLst>
          </a:prstGeom>
          <a:solidFill>
            <a:srgbClr val="F8F1EC"/>
          </a:solidFill>
          <a:ln/>
        </p:spPr>
      </p:sp>
      <p:pic>
        <p:nvPicPr>
          <p:cNvPr id="10" name="Image 1" descr="/tmp/claude-0/-home-user-predictionmarket/cadac25f-7355-5a2e-945b-6583f4b657ab/scratchpad/deck/designs/countdown_rally_3days_1600x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3611880" cy="20299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36758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3·2·1 · FRI 14 →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055864" y="1563624"/>
            <a:ext cx="3685032" cy="2103120"/>
          </a:xfrm>
          <a:prstGeom prst="roundRect">
            <a:avLst>
              <a:gd name="adj" fmla="val 2609"/>
            </a:avLst>
          </a:prstGeom>
          <a:solidFill>
            <a:srgbClr val="F8F1EC"/>
          </a:solidFill>
          <a:ln/>
        </p:spPr>
      </p:sp>
      <p:pic>
        <p:nvPicPr>
          <p:cNvPr id="13" name="Image 2" descr="/tmp/claude-0/-home-user-predictionmarket/cadac25f-7355-5a2e-945b-6583f4b657ab/scratchpad/deck/designs/launch_og_rally_1600x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600200"/>
            <a:ext cx="3611880" cy="20299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2440" y="36758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THREAD OG · MON 17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66344" y="4005072"/>
            <a:ext cx="3685032" cy="2103120"/>
          </a:xfrm>
          <a:prstGeom prst="roundRect">
            <a:avLst>
              <a:gd name="adj" fmla="val 2609"/>
            </a:avLst>
          </a:prstGeom>
          <a:solidFill>
            <a:srgbClr val="F8F1EC"/>
          </a:solidFill>
          <a:ln/>
        </p:spPr>
      </p:sp>
      <p:pic>
        <p:nvPicPr>
          <p:cNvPr id="16" name="Image 3" descr="/tmp/claude-0/-home-user-predictionmarket/cadac25f-7355-5a2e-945b-6583f4b657ab/scratchpad/deck/designs/howitworks_og_rally_1600x9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41648"/>
            <a:ext cx="3611880" cy="20299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" y="611733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IT WORKS” ARTICLE OG · MON 17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261104" y="4005072"/>
            <a:ext cx="2103120" cy="2103120"/>
          </a:xfrm>
          <a:prstGeom prst="roundRect">
            <a:avLst>
              <a:gd name="adj" fmla="val 2609"/>
            </a:avLst>
          </a:prstGeom>
          <a:solidFill>
            <a:srgbClr val="F8F1EC"/>
          </a:solidFill>
          <a:ln/>
        </p:spPr>
      </p:sp>
      <p:pic>
        <p:nvPicPr>
          <p:cNvPr id="19" name="Image 4" descr="/tmp/claude-0/-home-user-predictionmarket/cadac25f-7355-5a2e-945b-6583f4b657ab/scratchpad/deck/designs/campaigns_are_live_1080x108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4041648"/>
            <a:ext cx="2029968" cy="20299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297680" y="611733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POST · MON 17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473952" y="4169664"/>
            <a:ext cx="5148072" cy="1764792"/>
          </a:xfrm>
          <a:prstGeom prst="roundRect">
            <a:avLst>
              <a:gd name="adj" fmla="val 3109"/>
            </a:avLst>
          </a:prstGeom>
          <a:solidFill>
            <a:srgbClr val="F8F1EC"/>
          </a:solidFill>
          <a:ln/>
        </p:spPr>
      </p:sp>
      <p:pic>
        <p:nvPicPr>
          <p:cNvPr id="22" name="Image 5" descr="/tmp/claude-0/-home-user-predictionmarket/cadac25f-7355-5a2e-945b-6583f4b657ab/scratchpad/deck/designs/email_header_rally_1200x4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4206240"/>
            <a:ext cx="5074920" cy="16916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10528" y="594360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HEADER · MON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KIT · ALREADY PRODUCED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Spaces &amp; weekly templates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46920" y="365760"/>
            <a:ext cx="2084832" cy="329184"/>
          </a:xfrm>
          <a:prstGeom prst="roundRect">
            <a:avLst>
              <a:gd name="adj" fmla="val 38889"/>
            </a:avLst>
          </a:prstGeom>
          <a:solidFill>
            <a:srgbClr val="FF4E00"/>
          </a:solidFill>
          <a:ln/>
        </p:spPr>
      </p:sp>
      <p:sp>
        <p:nvSpPr>
          <p:cNvPr id="5" name="Text 3">
            <a:hlinkClick r:id="rId1" tooltip="Design kit"/>
          </p:cNvPr>
          <p:cNvSpPr/>
          <p:nvPr/>
        </p:nvSpPr>
        <p:spPr>
          <a:xfrm>
            <a:off x="9646920" y="365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Design ki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 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" y="1517904"/>
            <a:ext cx="3456432" cy="4306824"/>
          </a:xfrm>
          <a:prstGeom prst="roundRect">
            <a:avLst>
              <a:gd name="adj" fmla="val 1587"/>
            </a:avLst>
          </a:prstGeom>
          <a:solidFill>
            <a:srgbClr val="F8F1EC"/>
          </a:solidFill>
          <a:ln/>
        </p:spPr>
      </p:sp>
      <p:pic>
        <p:nvPicPr>
          <p:cNvPr id="7" name="Image 0" descr="/tmp/claude-0/-home-user-predictionmarket/cadac25f-7355-5a2e-945b-6583f4b657ab/scratchpad/deck/designs/verified_onepager_1080x13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3383280" cy="42336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338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ONE-PAGER · TUE 18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23944" y="1517904"/>
            <a:ext cx="2505456" cy="1444752"/>
          </a:xfrm>
          <a:prstGeom prst="roundRect">
            <a:avLst>
              <a:gd name="adj" fmla="val 3797"/>
            </a:avLst>
          </a:prstGeom>
          <a:solidFill>
            <a:srgbClr val="F8F1EC"/>
          </a:solidFill>
          <a:ln/>
        </p:spPr>
      </p:sp>
      <p:pic>
        <p:nvPicPr>
          <p:cNvPr id="10" name="Image 1" descr="/tmp/claude-0/-home-user-predictionmarket/cadac25f-7355-5a2e-945b-6583f4b657ab/scratchpad/deck/designs/call_for_projects_1600x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554480"/>
            <a:ext cx="2432304" cy="1371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297180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PROJECTS · WED 19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702552" y="1517904"/>
            <a:ext cx="2505456" cy="1444752"/>
          </a:xfrm>
          <a:prstGeom prst="roundRect">
            <a:avLst>
              <a:gd name="adj" fmla="val 3797"/>
            </a:avLst>
          </a:prstGeom>
          <a:solidFill>
            <a:srgbClr val="F8F1EC"/>
          </a:solidFill>
          <a:ln/>
        </p:spPr>
      </p:sp>
      <p:pic>
        <p:nvPicPr>
          <p:cNvPr id="13" name="Image 2" descr="/tmp/claude-0/-home-user-predictionmarket/cadac25f-7355-5a2e-945b-6583f4b657ab/scratchpad/deck/designs/space_livedemo_1600x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1554480"/>
            <a:ext cx="2432304" cy="1371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39128" y="297180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LIVE DEMO · THU 20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9281160" y="1517904"/>
            <a:ext cx="2505456" cy="1444752"/>
          </a:xfrm>
          <a:prstGeom prst="roundRect">
            <a:avLst>
              <a:gd name="adj" fmla="val 3797"/>
            </a:avLst>
          </a:prstGeom>
          <a:solidFill>
            <a:srgbClr val="F8F1EC"/>
          </a:solidFill>
          <a:ln/>
        </p:spPr>
      </p:sp>
      <p:pic>
        <p:nvPicPr>
          <p:cNvPr id="16" name="Image 3" descr="/tmp/claude-0/-home-user-predictionmarket/cadac25f-7355-5a2e-945b-6583f4b657ab/scratchpad/deck/designs/space_ama_1600x9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36" y="1554480"/>
            <a:ext cx="2432304" cy="1371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17736" y="297180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&amp; PARTNERS AMA · SAT 22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123944" y="3273552"/>
            <a:ext cx="2505456" cy="1444752"/>
          </a:xfrm>
          <a:prstGeom prst="roundRect">
            <a:avLst>
              <a:gd name="adj" fmla="val 3797"/>
            </a:avLst>
          </a:prstGeom>
          <a:solidFill>
            <a:srgbClr val="F8F1EC"/>
          </a:solidFill>
          <a:ln/>
        </p:spPr>
      </p:sp>
      <p:pic>
        <p:nvPicPr>
          <p:cNvPr id="19" name="Image 4" descr="/tmp/claude-0/-home-user-predictionmarket/cadac25f-7355-5a2e-945b-6583f4b657ab/scratchpad/deck/designs/spotlight_template_1600x9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310128"/>
            <a:ext cx="2432304" cy="1371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160520" y="472744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TEMPLATE · EVERY MON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702552" y="3273552"/>
            <a:ext cx="2505456" cy="1444752"/>
          </a:xfrm>
          <a:prstGeom prst="roundRect">
            <a:avLst>
              <a:gd name="adj" fmla="val 3797"/>
            </a:avLst>
          </a:prstGeom>
          <a:solidFill>
            <a:srgbClr val="F8F1EC"/>
          </a:solidFill>
          <a:ln/>
        </p:spPr>
      </p:sp>
      <p:pic>
        <p:nvPicPr>
          <p:cNvPr id="22" name="Image 5" descr="/tmp/claude-0/-home-user-predictionmarket/cadac25f-7355-5a2e-945b-6583f4b657ab/scratchpad/deck/designs/casestudy_numbers_template_1600x9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3310128"/>
            <a:ext cx="2432304" cy="1371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39128" y="472744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“RECEIPTS” · WED 26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9281160" y="3273552"/>
            <a:ext cx="2505456" cy="1444752"/>
          </a:xfrm>
          <a:prstGeom prst="roundRect">
            <a:avLst>
              <a:gd name="adj" fmla="val 3797"/>
            </a:avLst>
          </a:prstGeom>
          <a:solidFill>
            <a:srgbClr val="F8F1EC"/>
          </a:solidFill>
          <a:ln/>
        </p:spPr>
      </p:sp>
      <p:pic>
        <p:nvPicPr>
          <p:cNvPr id="25" name="Image 6" descr="/tmp/claude-0/-home-user-predictionmarket/cadac25f-7355-5a2e-945b-6583f4b657ab/scratchpad/deck/designs/network_vs_verified_1920x108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3310128"/>
            <a:ext cx="2432304" cy="13716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317736" y="472744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VS VERIFIED · WED 19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4654296" y="502920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8F1EC"/>
          </a:solidFill>
          <a:ln/>
        </p:spPr>
      </p:sp>
      <p:pic>
        <p:nvPicPr>
          <p:cNvPr id="28" name="Image 7" descr="/tmp/claude-0/-home-user-predictionmarket/cadac25f-7355-5a2e-945b-6583f4b657ab/scratchpad/deck/designs/idea_battle_1080x108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0872" y="5065776"/>
            <a:ext cx="1371600" cy="1371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690872" y="64830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BATTLE · SAT 29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6702552" y="5029200"/>
            <a:ext cx="2505456" cy="1444752"/>
          </a:xfrm>
          <a:prstGeom prst="roundRect">
            <a:avLst>
              <a:gd name="adj" fmla="val 3797"/>
            </a:avLst>
          </a:prstGeom>
          <a:solidFill>
            <a:srgbClr val="F8F1EC"/>
          </a:solidFill>
          <a:ln/>
        </p:spPr>
      </p:sp>
      <p:pic>
        <p:nvPicPr>
          <p:cNvPr id="31" name="Image 8" descr="/tmp/claude-0/-home-user-predictionmarket/cadac25f-7355-5a2e-945b-6583f4b657ab/scratchpad/deck/designs/why_permissionless_1920x108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128" y="5065776"/>
            <a:ext cx="2432304" cy="13716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739128" y="648309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PERMISSIONLESS · W1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9317736" y="5065776"/>
            <a:ext cx="2432304" cy="1371600"/>
          </a:xfrm>
          <a:prstGeom prst="roundRect">
            <a:avLst>
              <a:gd name="adj" fmla="val 4000"/>
            </a:avLst>
          </a:prstGeom>
          <a:solidFill>
            <a:srgbClr val="25043A"/>
          </a:solidFill>
          <a:ln/>
        </p:spPr>
      </p:sp>
      <p:sp>
        <p:nvSpPr>
          <p:cNvPr id="34" name="Text 23"/>
          <p:cNvSpPr/>
          <p:nvPr/>
        </p:nvSpPr>
        <p:spPr>
          <a:xfrm>
            <a:off x="9482328" y="5230368"/>
            <a:ext cx="21031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WITH DESIGN/EDITOR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edit · cutdowns 15/30s · KOL clips · lower-thirds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502920" y="619963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i="1" dirty="0">
                <a:solidFill>
                  <a:srgbClr val="250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static assets produced in Rally's graphic line — regenerable in minutes (copy, dates, sizes).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edictionmarket/cadac25f-7355-5a2e-945b-6583f4b657ab/scratchpad/deck/brand/rall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1184" y="1234440"/>
            <a:ext cx="2377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3774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campaign button belongs</a:t>
            </a:r>
            <a:endParaRPr lang="en-US" sz="38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everyone now.”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097280" y="40233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pillars · 3 objectives · 12 days · everything written.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97280" y="45262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this week = we ship Monday Aug 17.</a:t>
            </a:r>
            <a:endParaRPr lang="en-US" sz="1700" dirty="0"/>
          </a:p>
        </p:txBody>
      </p:sp>
      <p:sp>
        <p:nvSpPr>
          <p:cNvPr id="6" name="Text 3">
            <a:hlinkClick r:id="rId2" tooltip=""/>
          </p:cNvPr>
          <p:cNvSpPr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B79AC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Doc — plan, copy, scripts, design  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2026-08-20T10:32:06Z</dcterms:created>
  <dcterms:modified xsi:type="dcterms:W3CDTF">2026-08-20T10:32:06Z</dcterms:modified>
</cp:coreProperties>
</file>