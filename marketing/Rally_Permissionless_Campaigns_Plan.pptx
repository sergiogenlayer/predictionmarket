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250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document/d/1O3oPyaVwuSDak84CgE4xqk1jykADMsvYddNdYAzc_vw/edit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docs.google.com/document/d/1O3oPyaVwuSDak84CgE4xqk1jykADMsvYddNdYAzc_vw/edit" TargetMode="External"/><Relationship Id="rId2" Type="http://schemas.openxmlformats.org/officeDocument/2006/relationships/image" Target="../media/image-2-1.png"/><Relationship Id="rId3" Type="http://schemas.openxmlformats.org/officeDocument/2006/relationships/image" Target="../media/image-2-2.png"/><Relationship Id="rId4" Type="http://schemas.openxmlformats.org/officeDocument/2006/relationships/image" Target="../media/image-2-3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docs.google.com/document/d/1O3oPyaVwuSDak84CgE4xqk1jykADMsvYddNdYAzc_vw/edit" TargetMode="External"/><Relationship Id="rId3" Type="http://schemas.openxmlformats.org/officeDocument/2006/relationships/hyperlink" Target="https://docs.google.com/document/d/1O3oPyaVwuSDak84CgE4xqk1jykADMsvYddNdYAzc_vw/edit" TargetMode="External"/><Relationship Id="rId5" Type="http://schemas.openxmlformats.org/officeDocument/2006/relationships/hyperlink" Target="https://docs.google.com/document/d/1O3oPyaVwuSDak84CgE4xqk1jykADMsvYddNdYAzc_vw/edit" TargetMode="External"/><Relationship Id="rId7" Type="http://schemas.openxmlformats.org/officeDocument/2006/relationships/hyperlink" Target="https://docs.google.com/document/d/1O3oPyaVwuSDak84CgE4xqk1jykADMsvYddNdYAzc_vw/edit" TargetMode="External"/><Relationship Id="rId9" Type="http://schemas.openxmlformats.org/officeDocument/2006/relationships/hyperlink" Target="https://docs.google.com/document/d/1O3oPyaVwuSDak84CgE4xqk1jykADMsvYddNdYAzc_vw/edit" TargetMode="External"/><Relationship Id="rId2" Type="http://schemas.openxmlformats.org/officeDocument/2006/relationships/image" Target="../media/image-3-1.png"/><Relationship Id="rId4" Type="http://schemas.openxmlformats.org/officeDocument/2006/relationships/image" Target="../media/image-3-2.png"/><Relationship Id="rId6" Type="http://schemas.openxmlformats.org/officeDocument/2006/relationships/image" Target="../media/image-3-3.png"/><Relationship Id="rId8" Type="http://schemas.openxmlformats.org/officeDocument/2006/relationships/image" Target="../media/image-3-4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google.com/document/d/1O3oPyaVwuSDak84CgE4xqk1jykADMsvYddNdYAzc_vw/edit" TargetMode="External"/><Relationship Id="rId3" Type="http://schemas.openxmlformats.org/officeDocument/2006/relationships/hyperlink" Target="https://docs.google.com/document/d/1O3oPyaVwuSDak84CgE4xqk1jykADMsvYddNdYAzc_vw/edit" TargetMode="External"/><Relationship Id="rId1" Type="http://schemas.openxmlformats.org/officeDocument/2006/relationships/image" Target="../media/image-4-1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google.com/document/d/1O3oPyaVwuSDak84CgE4xqk1jykADMsvYddNdYAzc_vw/edit" TargetMode="External"/><Relationship Id="rId3" Type="http://schemas.openxmlformats.org/officeDocument/2006/relationships/hyperlink" Target="https://docs.google.com/document/d/1O3oPyaVwuSDak84CgE4xqk1jykADMsvYddNdYAzc_vw/edit" TargetMode="External"/><Relationship Id="rId1" Type="http://schemas.openxmlformats.org/officeDocument/2006/relationships/image" Target="../media/image-5-1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google.com/document/d/1O3oPyaVwuSDak84CgE4xqk1jykADMsvYddNdYAzc_vw/edit" TargetMode="External"/><Relationship Id="rId3" Type="http://schemas.openxmlformats.org/officeDocument/2006/relationships/hyperlink" Target="https://docs.google.com/document/d/1O3oPyaVwuSDak84CgE4xqk1jykADMsvYddNdYAzc_vw/edit" TargetMode="External"/><Relationship Id="rId1" Type="http://schemas.openxmlformats.org/officeDocument/2006/relationships/image" Target="../media/image-6-1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google.com/document/d/1O3oPyaVwuSDak84CgE4xqk1jykADMsvYddNdYAzc_vw/edit" TargetMode="External"/><Relationship Id="rId3" Type="http://schemas.openxmlformats.org/officeDocument/2006/relationships/hyperlink" Target="https://docs.google.com/document/d/1O3oPyaVwuSDak84CgE4xqk1jykADMsvYddNdYAzc_vw/edit" TargetMode="External"/><Relationship Id="rId1" Type="http://schemas.openxmlformats.org/officeDocument/2006/relationships/image" Target="../media/image-7-1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docs.google.com/document/d/1O3oPyaVwuSDak84CgE4xqk1jykADMsvYddNdYAzc_vw/edit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docs.google.com/document/d/1O3oPyaVwuSDak84CgE4xqk1jykADMsvYddNdYAzc_vw/edit" TargetMode="External"/><Relationship Id="rId2" Type="http://schemas.openxmlformats.org/officeDocument/2006/relationships/hyperlink" Target="https://docs.google.com/document/d/1O3oPyaVwuSDak84CgE4xqk1jykADMsvYddNdYAzc_vw/edit" TargetMode="Externa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docs.google.com/document/d/1O3oPyaVwuSDak84CgE4xqk1jykADMsvYddNdYAzc_vw/edit" TargetMode="External"/><Relationship Id="rId2" Type="http://schemas.openxmlformats.org/officeDocument/2006/relationships/image" Target="../media/image-10-1.png"/><Relationship Id="rId3" Type="http://schemas.openxmlformats.org/officeDocument/2006/relationships/image" Target="../media/image-10-2.png"/><Relationship Id="rId4" Type="http://schemas.openxmlformats.org/officeDocument/2006/relationships/image" Target="../media/image-10-3.png"/><Relationship Id="rId5" Type="http://schemas.openxmlformats.org/officeDocument/2006/relationships/image" Target="../media/image-10-4.png"/><Relationship Id="rId6" Type="http://schemas.openxmlformats.org/officeDocument/2006/relationships/image" Target="../media/image-10-5.png"/><Relationship Id="rId7" Type="http://schemas.openxmlformats.org/officeDocument/2006/relationships/image" Target="../media/image-10-6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docs.google.com/document/d/1O3oPyaVwuSDak84CgE4xqk1jykADMsvYddNdYAzc_vw/edit" TargetMode="External"/><Relationship Id="rId2" Type="http://schemas.openxmlformats.org/officeDocument/2006/relationships/image" Target="../media/image-11-1.png"/><Relationship Id="rId3" Type="http://schemas.openxmlformats.org/officeDocument/2006/relationships/image" Target="../media/image-11-2.png"/><Relationship Id="rId4" Type="http://schemas.openxmlformats.org/officeDocument/2006/relationships/image" Target="../media/image-11-3.png"/><Relationship Id="rId5" Type="http://schemas.openxmlformats.org/officeDocument/2006/relationships/image" Target="../media/image-11-4.png"/><Relationship Id="rId6" Type="http://schemas.openxmlformats.org/officeDocument/2006/relationships/image" Target="../media/image-11-5.png"/><Relationship Id="rId7" Type="http://schemas.openxmlformats.org/officeDocument/2006/relationships/image" Target="../media/image-11-6.png"/><Relationship Id="rId8" Type="http://schemas.openxmlformats.org/officeDocument/2006/relationships/image" Target="../media/image-11-7.png"/><Relationship Id="rId9" Type="http://schemas.openxmlformats.org/officeDocument/2006/relationships/image" Target="../media/image-11-8.png"/><Relationship Id="rId10" Type="http://schemas.openxmlformats.org/officeDocument/2006/relationships/image" Target="../media/image-11-9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google.com/document/d/1O3oPyaVwuSDak84CgE4xqk1jykADMsvYddNdYAzc_vw/edit" TargetMode="Externa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redictionmarket/cadac25f-7355-5a2e-945b-6583f4b657ab/scratchpad/deck/brand/rally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2487168" cy="5943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732520" y="1965960"/>
            <a:ext cx="2377440" cy="2377440"/>
          </a:xfrm>
          <a:prstGeom prst="ellipse">
            <a:avLst/>
          </a:prstGeom>
          <a:solidFill>
            <a:srgbClr val="FF4E00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352" y="2880360"/>
            <a:ext cx="566928" cy="566928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40080" y="1691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FF4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 · AUG–SEP 2026</a:t>
            </a:r>
            <a:endParaRPr lang="en-US" sz="1250" dirty="0"/>
          </a:p>
        </p:txBody>
      </p:sp>
      <p:sp>
        <p:nvSpPr>
          <p:cNvPr id="6" name="Text 2"/>
          <p:cNvSpPr/>
          <p:nvPr/>
        </p:nvSpPr>
        <p:spPr>
          <a:xfrm>
            <a:off x="640080" y="20574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Permissionless Campaigns</a:t>
            </a:r>
            <a:endParaRPr lang="en-US" sz="4400" dirty="0"/>
          </a:p>
        </p:txBody>
      </p:sp>
      <p:sp>
        <p:nvSpPr>
          <p:cNvPr id="7" name="Text 3"/>
          <p:cNvSpPr/>
          <p:nvPr/>
        </p:nvSpPr>
        <p:spPr>
          <a:xfrm>
            <a:off x="640080" y="297180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D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2-week launch campaign · 4 activation pillars · every piece already written</a:t>
            </a:r>
            <a:endParaRPr lang="en-US" sz="1800" dirty="0"/>
          </a:p>
        </p:txBody>
      </p:sp>
      <p:sp>
        <p:nvSpPr>
          <p:cNvPr id="8" name="Text 4"/>
          <p:cNvSpPr/>
          <p:nvPr/>
        </p:nvSpPr>
        <p:spPr>
          <a:xfrm>
            <a:off x="640080" y="3657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4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“No sales call. No agency. No permission.”</a:t>
            </a:r>
            <a:endParaRPr lang="en-US" sz="1500" dirty="0"/>
          </a:p>
        </p:txBody>
      </p:sp>
      <p:sp>
        <p:nvSpPr>
          <p:cNvPr id="9" name="Text 5">
            <a:hlinkClick r:id="rId3" tooltip=""/>
          </p:cNvPr>
          <p:cNvSpPr/>
          <p:nvPr/>
        </p:nvSpPr>
        <p:spPr>
          <a:xfrm>
            <a:off x="640080" y="5989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B79AC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Launch campaign plan  ·  full copy &amp; scripts: Master Doc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FF4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RUN THIS CAMPAIGN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objectives, one launch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646920" y="365760"/>
            <a:ext cx="2084832" cy="329184"/>
          </a:xfrm>
          <a:prstGeom prst="roundRect">
            <a:avLst>
              <a:gd name="adj" fmla="val 38889"/>
            </a:avLst>
          </a:prstGeom>
          <a:solidFill>
            <a:srgbClr val="FF4E00"/>
          </a:solidFill>
          <a:ln/>
        </p:spPr>
      </p:sp>
      <p:sp>
        <p:nvSpPr>
          <p:cNvPr id="5" name="Text 3">
            <a:hlinkClick r:id="rId1" tooltip="Objectives"/>
          </p:cNvPr>
          <p:cNvSpPr/>
          <p:nvPr/>
        </p:nvSpPr>
        <p:spPr>
          <a:xfrm>
            <a:off x="9646920" y="365760"/>
            <a:ext cx="2084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u="sng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bjectiv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 DOC  ▸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3566160" cy="4206240"/>
          </a:xfrm>
          <a:prstGeom prst="roundRect">
            <a:avLst>
              <a:gd name="adj" fmla="val 2564"/>
            </a:avLst>
          </a:prstGeom>
          <a:solidFill>
            <a:srgbClr val="25043A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664208"/>
            <a:ext cx="566928" cy="566928"/>
          </a:xfrm>
          <a:prstGeom prst="ellipse">
            <a:avLst/>
          </a:prstGeom>
          <a:solidFill>
            <a:srgbClr val="FF4E0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599" y="1817279"/>
            <a:ext cx="260787" cy="26078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95528" y="23774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b="1" dirty="0">
                <a:solidFill>
                  <a:srgbClr val="FF4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COMMUNITIES &amp; PROJECTS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95528" y="290779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i="1" dirty="0">
                <a:solidFill>
                  <a:srgbClr val="E8D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the launch into signed demand.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795528" y="3346704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25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Verified cohort filled ($1,500 × N — the revenue line)</a:t>
            </a:r>
            <a:endParaRPr lang="en-US" sz="1050" dirty="0"/>
          </a:p>
          <a:p>
            <a:pPr marL="342900" indent="-342900">
              <a:lnSpc>
                <a:spcPts val="125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Flagship communities operating inside Rally (co-created campaign)</a:t>
            </a:r>
            <a:endParaRPr lang="en-US" sz="1050" dirty="0"/>
          </a:p>
          <a:p>
            <a:pPr marL="342900" indent="-342900">
              <a:lnSpc>
                <a:spcPts val="125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pipeline worked 1:1 with one-pager + case study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95528" y="50292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b="1" dirty="0">
                <a:solidFill>
                  <a:srgbClr val="CBB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KPI: Verified calls booked · cohort filled · communities claimed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325112" y="1371600"/>
            <a:ext cx="3566160" cy="4206240"/>
          </a:xfrm>
          <a:prstGeom prst="roundRect">
            <a:avLst>
              <a:gd name="adj" fmla="val 2564"/>
            </a:avLst>
          </a:prstGeom>
          <a:solidFill>
            <a:srgbClr val="F8F1EC"/>
          </a:solidFill>
          <a:ln/>
        </p:spPr>
      </p:sp>
      <p:sp>
        <p:nvSpPr>
          <p:cNvPr id="14" name="Shape 11"/>
          <p:cNvSpPr/>
          <p:nvPr/>
        </p:nvSpPr>
        <p:spPr>
          <a:xfrm>
            <a:off x="4617720" y="1664208"/>
            <a:ext cx="566928" cy="566928"/>
          </a:xfrm>
          <a:prstGeom prst="ellipse">
            <a:avLst/>
          </a:prstGeom>
          <a:solidFill>
            <a:srgbClr val="25043A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0791" y="1817279"/>
            <a:ext cx="260787" cy="260787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617720" y="23774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b="1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NARRATIVE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4617720" y="290779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i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one story: marketing without gatekeepers.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4617720" y="3346704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25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Video as acquisition engine — promoted at full throttle</a:t>
            </a:r>
            <a:endParaRPr lang="en-US" sz="1050" dirty="0"/>
          </a:p>
          <a:p>
            <a:pPr marL="342900" indent="-342900">
              <a:lnSpc>
                <a:spcPts val="125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KOLs launching real RLP-funded campaigns: the promotion IS the product</a:t>
            </a:r>
            <a:endParaRPr lang="en-US" sz="1050" dirty="0"/>
          </a:p>
          <a:p>
            <a:pPr marL="342900" indent="-342900">
              <a:lnSpc>
                <a:spcPts val="125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piece repeats the same hook, twice a week, for two weeks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4617720" y="50292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b="1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KPI: video reach · new sign-ups · campaigns created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8147304" y="1371600"/>
            <a:ext cx="3566160" cy="4206240"/>
          </a:xfrm>
          <a:prstGeom prst="roundRect">
            <a:avLst>
              <a:gd name="adj" fmla="val 2564"/>
            </a:avLst>
          </a:prstGeom>
          <a:solidFill>
            <a:srgbClr val="F8F1EC"/>
          </a:solidFill>
          <a:ln/>
        </p:spPr>
      </p:sp>
      <p:sp>
        <p:nvSpPr>
          <p:cNvPr id="21" name="Shape 17"/>
          <p:cNvSpPr/>
          <p:nvPr/>
        </p:nvSpPr>
        <p:spPr>
          <a:xfrm>
            <a:off x="8439912" y="1664208"/>
            <a:ext cx="566928" cy="566928"/>
          </a:xfrm>
          <a:prstGeom prst="ellipse">
            <a:avLst/>
          </a:prstGeom>
          <a:solidFill>
            <a:srgbClr val="25043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2983" y="1817279"/>
            <a:ext cx="260787" cy="260787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8439912" y="23774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b="1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 THE CONCEPTS</a:t>
            </a:r>
            <a:endParaRPr lang="en-US" sz="1450" dirty="0"/>
          </a:p>
        </p:txBody>
      </p:sp>
      <p:sp>
        <p:nvSpPr>
          <p:cNvPr id="24" name="Text 19"/>
          <p:cNvSpPr/>
          <p:nvPr/>
        </p:nvSpPr>
        <p:spPr>
          <a:xfrm>
            <a:off x="8439912" y="290779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i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frame that connects everything Rally has built.</a:t>
            </a:r>
            <a:endParaRPr lang="en-US" sz="1150" dirty="0"/>
          </a:p>
        </p:txBody>
      </p:sp>
      <p:sp>
        <p:nvSpPr>
          <p:cNvPr id="25" name="Text 20"/>
          <p:cNvSpPr/>
          <p:nvPr/>
        </p:nvSpPr>
        <p:spPr>
          <a:xfrm>
            <a:off x="8439912" y="3346704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25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RLPs = working capital · Communities = distribution · Campaigns = the market</a:t>
            </a:r>
            <a:endParaRPr lang="en-US" sz="1050" dirty="0"/>
          </a:p>
          <a:p>
            <a:pPr marL="342900" indent="-342900">
              <a:lnSpc>
                <a:spcPts val="125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(open floor) vs Verified (main stage) — one clean mental model</a:t>
            </a:r>
            <a:endParaRPr lang="en-US" sz="1050" dirty="0"/>
          </a:p>
          <a:p>
            <a:pPr marL="342900" indent="-342900">
              <a:lnSpc>
                <a:spcPts val="125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Ends at the vision: “Rally, the Hub of Communities”</a:t>
            </a:r>
            <a:endParaRPr lang="en-US" sz="1050" dirty="0"/>
          </a:p>
        </p:txBody>
      </p:sp>
      <p:sp>
        <p:nvSpPr>
          <p:cNvPr id="26" name="Text 21"/>
          <p:cNvSpPr/>
          <p:nvPr/>
        </p:nvSpPr>
        <p:spPr>
          <a:xfrm>
            <a:off x="8439912" y="50292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b="1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KPI: RLPs deployed into pools · consistent narrative across ~25 pieces</a:t>
            </a:r>
            <a:endParaRPr lang="en-US" sz="950" dirty="0"/>
          </a:p>
        </p:txBody>
      </p:sp>
      <p:sp>
        <p:nvSpPr>
          <p:cNvPr id="27" name="Text 22"/>
          <p:cNvSpPr/>
          <p:nvPr/>
        </p:nvSpPr>
        <p:spPr>
          <a:xfrm>
            <a:off x="502920" y="589788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campaign is designed so each pillar serves at least one objective — nothing publishes without a job.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FF4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STRATEGY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activation pillars — everything else supports these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646920" y="365760"/>
            <a:ext cx="2084832" cy="329184"/>
          </a:xfrm>
          <a:prstGeom prst="roundRect">
            <a:avLst>
              <a:gd name="adj" fmla="val 38889"/>
            </a:avLst>
          </a:prstGeom>
          <a:solidFill>
            <a:srgbClr val="FF4E00"/>
          </a:solidFill>
          <a:ln/>
        </p:spPr>
      </p:sp>
      <p:sp>
        <p:nvSpPr>
          <p:cNvPr id="5" name="Text 3">
            <a:hlinkClick r:id="rId1" tooltip="Strategy"/>
          </p:cNvPr>
          <p:cNvSpPr/>
          <p:nvPr/>
        </p:nvSpPr>
        <p:spPr>
          <a:xfrm>
            <a:off x="9646920" y="365760"/>
            <a:ext cx="2084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u="sng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Strateg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 DOC  ▸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5532120" cy="2212848"/>
          </a:xfrm>
          <a:prstGeom prst="roundRect">
            <a:avLst>
              <a:gd name="adj" fmla="val 4132"/>
            </a:avLst>
          </a:prstGeom>
          <a:solidFill>
            <a:srgbClr val="F8F1EC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1627632"/>
            <a:ext cx="502920" cy="502920"/>
          </a:xfrm>
          <a:prstGeom prst="ellipse">
            <a:avLst/>
          </a:prstGeom>
          <a:solidFill>
            <a:srgbClr val="FF4E0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1755648"/>
            <a:ext cx="246888" cy="24688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35608" y="1609344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FF4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THE PERMISSIONLESS VIDEO</a:t>
            </a:r>
            <a:endParaRPr lang="en-US" sz="1350" dirty="0"/>
          </a:p>
        </p:txBody>
      </p:sp>
      <p:sp>
        <p:nvSpPr>
          <p:cNvPr id="10" name="Text 7">
            <a:hlinkClick r:id="rId3" tooltip=""/>
          </p:cNvPr>
          <p:cNvSpPr/>
          <p:nvPr/>
        </p:nvSpPr>
        <p:spPr>
          <a:xfrm>
            <a:off x="4709160" y="162763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u="sng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 Doc §5, 11.5 ▸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435608" y="206654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hero. Everything derives from it.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13816" y="2414016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25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 promoted at full throttle from Day 1</a:t>
            </a:r>
            <a:endParaRPr lang="en-US" sz="1050" dirty="0"/>
          </a:p>
          <a:p>
            <a:pPr marL="342900" indent="-342900">
              <a:lnSpc>
                <a:spcPts val="125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KOLs launch real permissionless campaigns funded in RLPs</a:t>
            </a:r>
            <a:endParaRPr lang="en-US" sz="1050" dirty="0"/>
          </a:p>
          <a:p>
            <a:pPr marL="342900" indent="-342900">
              <a:lnSpc>
                <a:spcPts val="125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Teaser · countdown · cutdowns · receipts thread keep it alive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217920" y="1371600"/>
            <a:ext cx="5532120" cy="2212848"/>
          </a:xfrm>
          <a:prstGeom prst="roundRect">
            <a:avLst>
              <a:gd name="adj" fmla="val 4132"/>
            </a:avLst>
          </a:prstGeom>
          <a:solidFill>
            <a:srgbClr val="F8F1E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92240" y="1627632"/>
            <a:ext cx="502920" cy="502920"/>
          </a:xfrm>
          <a:prstGeom prst="ellipse">
            <a:avLst/>
          </a:prstGeom>
          <a:solidFill>
            <a:srgbClr val="25043A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0256" y="1755648"/>
            <a:ext cx="246888" cy="24688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50608" y="1609344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SALES NARRATIVE &amp; CO-MARKETING</a:t>
            </a:r>
            <a:endParaRPr lang="en-US" sz="1350" dirty="0"/>
          </a:p>
        </p:txBody>
      </p:sp>
      <p:sp>
        <p:nvSpPr>
          <p:cNvPr id="17" name="Text 13">
            <a:hlinkClick r:id="rId5" tooltip=""/>
          </p:cNvPr>
          <p:cNvSpPr/>
          <p:nvPr/>
        </p:nvSpPr>
        <p:spPr>
          <a:xfrm>
            <a:off x="10424160" y="162763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u="sng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 Doc §6–7, 11 ▸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7150608" y="206654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Attract communities and projects.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6528816" y="2414016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25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&amp; Network pitches + use-case articles</a:t>
            </a:r>
            <a:endParaRPr lang="en-US" sz="1050" dirty="0"/>
          </a:p>
          <a:p>
            <a:pPr marL="342900" indent="-342900">
              <a:lnSpc>
                <a:spcPts val="125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for Projects (first cohort) + flagship co-created campaign</a:t>
            </a:r>
            <a:endParaRPr lang="en-US" sz="1050" dirty="0"/>
          </a:p>
          <a:p>
            <a:pPr marL="342900" indent="-342900">
              <a:lnSpc>
                <a:spcPts val="125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with real ROI → pipeline + “Hub of Communities” vision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502920" y="3767328"/>
            <a:ext cx="5532120" cy="2212848"/>
          </a:xfrm>
          <a:prstGeom prst="roundRect">
            <a:avLst>
              <a:gd name="adj" fmla="val 4132"/>
            </a:avLst>
          </a:prstGeom>
          <a:solidFill>
            <a:srgbClr val="F8F1EC"/>
          </a:solidFill>
          <a:ln/>
        </p:spPr>
      </p:sp>
      <p:sp>
        <p:nvSpPr>
          <p:cNvPr id="21" name="Shape 17"/>
          <p:cNvSpPr/>
          <p:nvPr/>
        </p:nvSpPr>
        <p:spPr>
          <a:xfrm>
            <a:off x="777240" y="4023360"/>
            <a:ext cx="502920" cy="502920"/>
          </a:xfrm>
          <a:prstGeom prst="ellipse">
            <a:avLst/>
          </a:prstGeom>
          <a:solidFill>
            <a:srgbClr val="C43C00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256" y="4151376"/>
            <a:ext cx="246888" cy="24688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435608" y="4005072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C43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CREATORS CREATING CAMPAIGNS</a:t>
            </a:r>
            <a:endParaRPr lang="en-US" sz="1350" dirty="0"/>
          </a:p>
        </p:txBody>
      </p:sp>
      <p:sp>
        <p:nvSpPr>
          <p:cNvPr id="24" name="Text 19">
            <a:hlinkClick r:id="rId7" tooltip=""/>
          </p:cNvPr>
          <p:cNvSpPr/>
          <p:nvPr/>
        </p:nvSpPr>
        <p:spPr>
          <a:xfrm>
            <a:off x="4709160" y="40233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u="sng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 Doc §9, 11 ▸</a:t>
            </a:r>
            <a:endParaRPr lang="en-US" sz="900" dirty="0"/>
          </a:p>
        </p:txBody>
      </p:sp>
      <p:sp>
        <p:nvSpPr>
          <p:cNvPr id="25" name="Text 20"/>
          <p:cNvSpPr/>
          <p:nvPr/>
        </p:nvSpPr>
        <p:spPr>
          <a:xfrm>
            <a:off x="1435608" y="446227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proof from other voices.</a:t>
            </a:r>
            <a:endParaRPr lang="en-US" sz="1050" dirty="0"/>
          </a:p>
        </p:txBody>
      </p:sp>
      <p:sp>
        <p:nvSpPr>
          <p:cNvPr id="26" name="Text 21"/>
          <p:cNvSpPr/>
          <p:nvPr/>
        </p:nvSpPr>
        <p:spPr>
          <a:xfrm>
            <a:off x="813816" y="4809744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25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Creators launch campaigns with their RLPs — and tell it on video</a:t>
            </a:r>
            <a:endParaRPr lang="en-US" sz="1050" dirty="0"/>
          </a:p>
          <a:p>
            <a:pPr marL="342900" indent="-342900">
              <a:lnSpc>
                <a:spcPts val="125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Spotlight of the best community campaigns</a:t>
            </a:r>
            <a:endParaRPr lang="en-US" sz="1050" dirty="0"/>
          </a:p>
          <a:p>
            <a:pPr marL="342900" indent="-342900">
              <a:lnSpc>
                <a:spcPts val="125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Idea Battle: winning community idea gets funded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6217920" y="3767328"/>
            <a:ext cx="5532120" cy="2212848"/>
          </a:xfrm>
          <a:prstGeom prst="roundRect">
            <a:avLst>
              <a:gd name="adj" fmla="val 4132"/>
            </a:avLst>
          </a:prstGeom>
          <a:solidFill>
            <a:srgbClr val="F8F1EC"/>
          </a:solidFill>
          <a:ln/>
        </p:spPr>
      </p:sp>
      <p:sp>
        <p:nvSpPr>
          <p:cNvPr id="28" name="Shape 23"/>
          <p:cNvSpPr/>
          <p:nvPr/>
        </p:nvSpPr>
        <p:spPr>
          <a:xfrm>
            <a:off x="6492240" y="4023360"/>
            <a:ext cx="502920" cy="502920"/>
          </a:xfrm>
          <a:prstGeom prst="ellipse">
            <a:avLst/>
          </a:prstGeom>
          <a:solidFill>
            <a:srgbClr val="6E5588"/>
          </a:solidFill>
          <a:ln/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0256" y="4151376"/>
            <a:ext cx="246888" cy="246888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7150608" y="4005072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6E55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CONCEPT EDUCATION</a:t>
            </a:r>
            <a:endParaRPr lang="en-US" sz="1350" dirty="0"/>
          </a:p>
        </p:txBody>
      </p:sp>
      <p:sp>
        <p:nvSpPr>
          <p:cNvPr id="31" name="Text 25">
            <a:hlinkClick r:id="rId9" tooltip=""/>
          </p:cNvPr>
          <p:cNvSpPr/>
          <p:nvPr/>
        </p:nvSpPr>
        <p:spPr>
          <a:xfrm>
            <a:off x="10424160" y="40233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u="sng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 Doc §8, 10, 13 ▸</a:t>
            </a:r>
            <a:endParaRPr lang="en-US" sz="900" dirty="0"/>
          </a:p>
        </p:txBody>
      </p:sp>
      <p:sp>
        <p:nvSpPr>
          <p:cNvPr id="32" name="Text 26"/>
          <p:cNvSpPr/>
          <p:nvPr/>
        </p:nvSpPr>
        <p:spPr>
          <a:xfrm>
            <a:off x="7150608" y="446227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the barrier to the first campaign.</a:t>
            </a:r>
            <a:endParaRPr lang="en-US" sz="1050" dirty="0"/>
          </a:p>
        </p:txBody>
      </p:sp>
      <p:sp>
        <p:nvSpPr>
          <p:cNvPr id="33" name="Text 27"/>
          <p:cNvSpPr/>
          <p:nvPr/>
        </p:nvSpPr>
        <p:spPr>
          <a:xfrm>
            <a:off x="6528816" y="4809744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25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“How It Works” · “Why RLPs Matter” · brief-writing guide</a:t>
            </a:r>
            <a:endParaRPr lang="en-US" sz="1050" dirty="0"/>
          </a:p>
          <a:p>
            <a:pPr marL="342900" indent="-342900">
              <a:lnSpc>
                <a:spcPts val="125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a campaign launched in 10 minutes, on stream</a:t>
            </a:r>
            <a:endParaRPr lang="en-US" sz="1050" dirty="0"/>
          </a:p>
          <a:p>
            <a:pPr marL="342900" indent="-342900">
              <a:lnSpc>
                <a:spcPts val="125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Space debrief + AMAs — objections answered in public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6858000"/>
          </a:xfrm>
          <a:prstGeom prst="rect">
            <a:avLst/>
          </a:prstGeom>
          <a:solidFill>
            <a:srgbClr val="25043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943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4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1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685800" cy="685800"/>
          </a:xfrm>
          <a:prstGeom prst="ellipse">
            <a:avLst/>
          </a:prstGeom>
          <a:solidFill>
            <a:srgbClr val="FF4E0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2366" y="1191006"/>
            <a:ext cx="315468" cy="3154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1874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Permissionless Video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457200" y="28346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i="1" dirty="0">
                <a:solidFill>
                  <a:srgbClr val="FF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Serves: acquisition narrative + concept unification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457200" y="3520440"/>
            <a:ext cx="30175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35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E8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heavy production, ~25 pieces living off it — maximum leverage per euro</a:t>
            </a:r>
            <a:endParaRPr lang="en-US" sz="1100" dirty="0"/>
          </a:p>
          <a:p>
            <a:pPr marL="342900" indent="-342900">
              <a:lnSpc>
                <a:spcPts val="135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E8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KOLs don't do ad reads: they launch real campaigns funded in RLPs. Their audience watches the product work</a:t>
            </a:r>
            <a:endParaRPr lang="en-US" sz="1100" dirty="0"/>
          </a:p>
          <a:p>
            <a:pPr marL="342900" indent="-342900">
              <a:lnSpc>
                <a:spcPts val="135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E8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hook carries the whole story: “Every campaign you've seen here was ours. That ends today.”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206240" y="4572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 &amp; TIMING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9646920" y="365760"/>
            <a:ext cx="2084832" cy="329184"/>
          </a:xfrm>
          <a:prstGeom prst="roundRect">
            <a:avLst>
              <a:gd name="adj" fmla="val 38889"/>
            </a:avLst>
          </a:prstGeom>
          <a:solidFill>
            <a:srgbClr val="FF4E00"/>
          </a:solidFill>
          <a:ln/>
        </p:spPr>
      </p:sp>
      <p:sp>
        <p:nvSpPr>
          <p:cNvPr id="11" name="Text 8">
            <a:hlinkClick r:id="rId2" tooltip="The Permissionless Video"/>
          </p:cNvPr>
          <p:cNvSpPr/>
          <p:nvPr/>
        </p:nvSpPr>
        <p:spPr>
          <a:xfrm>
            <a:off x="9646920" y="365760"/>
            <a:ext cx="2084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u="sng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The Permissionless Vide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 DOC  ▸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206240" y="914400"/>
            <a:ext cx="7498080" cy="786384"/>
          </a:xfrm>
          <a:prstGeom prst="roundRect">
            <a:avLst>
              <a:gd name="adj" fmla="val 9302"/>
            </a:avLst>
          </a:prstGeom>
          <a:solidFill>
            <a:srgbClr val="F8F1EC"/>
          </a:solidFill>
          <a:ln/>
        </p:spPr>
      </p:sp>
      <p:sp>
        <p:nvSpPr>
          <p:cNvPr id="13" name="Shape 10"/>
          <p:cNvSpPr/>
          <p:nvPr/>
        </p:nvSpPr>
        <p:spPr>
          <a:xfrm>
            <a:off x="4434840" y="1152144"/>
            <a:ext cx="914400" cy="310896"/>
          </a:xfrm>
          <a:prstGeom prst="roundRect">
            <a:avLst>
              <a:gd name="adj" fmla="val 35294"/>
            </a:avLst>
          </a:prstGeom>
          <a:solidFill>
            <a:srgbClr val="FF4E00"/>
          </a:solidFill>
          <a:ln/>
        </p:spPr>
      </p:sp>
      <p:sp>
        <p:nvSpPr>
          <p:cNvPr id="14" name="Text 11"/>
          <p:cNvSpPr/>
          <p:nvPr/>
        </p:nvSpPr>
        <p:spPr>
          <a:xfrm>
            <a:off x="4434840" y="115214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 24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5486400" y="969264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Teaser 15s — “Something permissionless is coming”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206240" y="1828800"/>
            <a:ext cx="7498080" cy="786384"/>
          </a:xfrm>
          <a:prstGeom prst="roundRect">
            <a:avLst>
              <a:gd name="adj" fmla="val 9302"/>
            </a:avLst>
          </a:prstGeom>
          <a:solidFill>
            <a:srgbClr val="F8F1EC"/>
          </a:solidFill>
          <a:ln/>
        </p:spPr>
      </p:sp>
      <p:sp>
        <p:nvSpPr>
          <p:cNvPr id="17" name="Shape 14"/>
          <p:cNvSpPr/>
          <p:nvPr/>
        </p:nvSpPr>
        <p:spPr>
          <a:xfrm>
            <a:off x="4434840" y="2066544"/>
            <a:ext cx="914400" cy="310896"/>
          </a:xfrm>
          <a:prstGeom prst="roundRect">
            <a:avLst>
              <a:gd name="adj" fmla="val 35294"/>
            </a:avLst>
          </a:prstGeom>
          <a:solidFill>
            <a:srgbClr val="FF4E00"/>
          </a:solidFill>
          <a:ln/>
        </p:spPr>
      </p:sp>
      <p:sp>
        <p:nvSpPr>
          <p:cNvPr id="18" name="Text 15"/>
          <p:cNvSpPr/>
          <p:nvPr/>
        </p:nvSpPr>
        <p:spPr>
          <a:xfrm>
            <a:off x="4434840" y="206654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 25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486400" y="1883664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Countdown post — launch date reveal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206240" y="2743200"/>
            <a:ext cx="7498080" cy="786384"/>
          </a:xfrm>
          <a:prstGeom prst="roundRect">
            <a:avLst>
              <a:gd name="adj" fmla="val 9302"/>
            </a:avLst>
          </a:prstGeom>
          <a:solidFill>
            <a:srgbClr val="F8F1EC"/>
          </a:solidFill>
          <a:ln/>
        </p:spPr>
      </p:sp>
      <p:sp>
        <p:nvSpPr>
          <p:cNvPr id="21" name="Shape 18"/>
          <p:cNvSpPr/>
          <p:nvPr/>
        </p:nvSpPr>
        <p:spPr>
          <a:xfrm>
            <a:off x="4434840" y="2980944"/>
            <a:ext cx="914400" cy="310896"/>
          </a:xfrm>
          <a:prstGeom prst="roundRect">
            <a:avLst>
              <a:gd name="adj" fmla="val 35294"/>
            </a:avLst>
          </a:prstGeom>
          <a:solidFill>
            <a:srgbClr val="FF4E00"/>
          </a:solidFill>
          <a:ln/>
        </p:spPr>
      </p:sp>
      <p:sp>
        <p:nvSpPr>
          <p:cNvPr id="22" name="Text 19"/>
          <p:cNvSpPr/>
          <p:nvPr/>
        </p:nvSpPr>
        <p:spPr>
          <a:xfrm>
            <a:off x="4434840" y="298094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 26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486400" y="2798064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 (100s, script locked) + launch thread pinned + mailing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4206240" y="3657600"/>
            <a:ext cx="7498080" cy="786384"/>
          </a:xfrm>
          <a:prstGeom prst="roundRect">
            <a:avLst>
              <a:gd name="adj" fmla="val 9302"/>
            </a:avLst>
          </a:prstGeom>
          <a:solidFill>
            <a:srgbClr val="F8F1EC"/>
          </a:solidFill>
          <a:ln/>
        </p:spPr>
      </p:sp>
      <p:sp>
        <p:nvSpPr>
          <p:cNvPr id="25" name="Shape 22"/>
          <p:cNvSpPr/>
          <p:nvPr/>
        </p:nvSpPr>
        <p:spPr>
          <a:xfrm>
            <a:off x="4434840" y="3895344"/>
            <a:ext cx="914400" cy="310896"/>
          </a:xfrm>
          <a:prstGeom prst="roundRect">
            <a:avLst>
              <a:gd name="adj" fmla="val 35294"/>
            </a:avLst>
          </a:prstGeom>
          <a:solidFill>
            <a:srgbClr val="FF4E00"/>
          </a:solidFill>
          <a:ln/>
        </p:spPr>
      </p:sp>
      <p:sp>
        <p:nvSpPr>
          <p:cNvPr id="26" name="Text 23"/>
          <p:cNvSpPr/>
          <p:nvPr/>
        </p:nvSpPr>
        <p:spPr>
          <a:xfrm>
            <a:off x="4434840" y="389534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 26→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5486400" y="3712464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 activation: real RLP-funded campaigns + coordinated QT push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06240" y="4572000"/>
            <a:ext cx="7498080" cy="786384"/>
          </a:xfrm>
          <a:prstGeom prst="roundRect">
            <a:avLst>
              <a:gd name="adj" fmla="val 9302"/>
            </a:avLst>
          </a:prstGeom>
          <a:solidFill>
            <a:srgbClr val="F8F1EC"/>
          </a:solidFill>
          <a:ln/>
        </p:spPr>
      </p:sp>
      <p:sp>
        <p:nvSpPr>
          <p:cNvPr id="29" name="Shape 26"/>
          <p:cNvSpPr/>
          <p:nvPr/>
        </p:nvSpPr>
        <p:spPr>
          <a:xfrm>
            <a:off x="4434840" y="4809744"/>
            <a:ext cx="914400" cy="310896"/>
          </a:xfrm>
          <a:prstGeom prst="roundRect">
            <a:avLst>
              <a:gd name="adj" fmla="val 35294"/>
            </a:avLst>
          </a:prstGeom>
          <a:solidFill>
            <a:srgbClr val="FF4E00"/>
          </a:solidFill>
          <a:ln/>
        </p:spPr>
      </p:sp>
      <p:sp>
        <p:nvSpPr>
          <p:cNvPr id="30" name="Text 27"/>
          <p:cNvSpPr/>
          <p:nvPr/>
        </p:nvSpPr>
        <p:spPr>
          <a:xfrm>
            <a:off x="4434840" y="480974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W1–W2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5486400" y="4626864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Cutdowns 15s / 30s — fresh angles keep it circulating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4206240" y="5486400"/>
            <a:ext cx="7498080" cy="786384"/>
          </a:xfrm>
          <a:prstGeom prst="roundRect">
            <a:avLst>
              <a:gd name="adj" fmla="val 9302"/>
            </a:avLst>
          </a:prstGeom>
          <a:solidFill>
            <a:srgbClr val="F8F1EC"/>
          </a:solidFill>
          <a:ln/>
        </p:spPr>
      </p:sp>
      <p:sp>
        <p:nvSpPr>
          <p:cNvPr id="33" name="Shape 30"/>
          <p:cNvSpPr/>
          <p:nvPr/>
        </p:nvSpPr>
        <p:spPr>
          <a:xfrm>
            <a:off x="4434840" y="5724144"/>
            <a:ext cx="914400" cy="310896"/>
          </a:xfrm>
          <a:prstGeom prst="roundRect">
            <a:avLst>
              <a:gd name="adj" fmla="val 35294"/>
            </a:avLst>
          </a:prstGeom>
          <a:solidFill>
            <a:srgbClr val="FF4E00"/>
          </a:solidFill>
          <a:ln/>
        </p:spPr>
      </p:sp>
      <p:sp>
        <p:nvSpPr>
          <p:cNvPr id="34" name="Text 31"/>
          <p:cNvSpPr/>
          <p:nvPr/>
        </p:nvSpPr>
        <p:spPr>
          <a:xfrm>
            <a:off x="4434840" y="572414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 8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5486400" y="5541264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“Anatomy of a Campaign” receipts thread — the video, proven with screenshots</a:t>
            </a:r>
            <a:endParaRPr lang="en-US" sz="1200" dirty="0"/>
          </a:p>
        </p:txBody>
      </p:sp>
      <p:sp>
        <p:nvSpPr>
          <p:cNvPr id="36" name="Text 33">
            <a:hlinkClick r:id="rId3" tooltip=""/>
          </p:cNvPr>
          <p:cNvSpPr/>
          <p:nvPr/>
        </p:nvSpPr>
        <p:spPr>
          <a:xfrm>
            <a:off x="4206240" y="64465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u="sng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 Doc §4–5, 11.5  ▸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6858000"/>
          </a:xfrm>
          <a:prstGeom prst="rect">
            <a:avLst/>
          </a:prstGeom>
          <a:solidFill>
            <a:srgbClr val="25043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943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2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685800" cy="685800"/>
          </a:xfrm>
          <a:prstGeom prst="ellipse">
            <a:avLst/>
          </a:prstGeom>
          <a:solidFill>
            <a:srgbClr val="25043A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2366" y="1191006"/>
            <a:ext cx="315468" cy="3154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1874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Narrative &amp; Co-marketing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457200" y="28346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i="1" dirty="0">
                <a:solidFill>
                  <a:srgbClr val="CBB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Serves: close communities &amp; projects (the revenue line)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457200" y="3520440"/>
            <a:ext cx="30175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35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E8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clean offers: Network (open floor, free) vs Verified (main stage, $1,500)</a:t>
            </a:r>
            <a:endParaRPr lang="en-US" sz="1100" dirty="0"/>
          </a:p>
          <a:p>
            <a:pPr marL="342900" indent="-342900">
              <a:lnSpc>
                <a:spcPts val="135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E8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Co-marketing built in: projects launch WITH us — Call for Projects, flagship co-created campaign</a:t>
            </a:r>
            <a:endParaRPr lang="en-US" sz="1100" dirty="0"/>
          </a:p>
          <a:p>
            <a:pPr marL="342900" indent="-342900">
              <a:lnSpc>
                <a:spcPts val="135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E8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doubles as sales material: one-pager, comparison visual, use cases, case study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206240" y="4572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 &amp; TIMING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9646920" y="365760"/>
            <a:ext cx="2084832" cy="329184"/>
          </a:xfrm>
          <a:prstGeom prst="roundRect">
            <a:avLst>
              <a:gd name="adj" fmla="val 38889"/>
            </a:avLst>
          </a:prstGeom>
          <a:solidFill>
            <a:srgbClr val="FF4E00"/>
          </a:solidFill>
          <a:ln/>
        </p:spPr>
      </p:sp>
      <p:sp>
        <p:nvSpPr>
          <p:cNvPr id="11" name="Text 8">
            <a:hlinkClick r:id="rId2" tooltip="Sales Narrative &amp; Co-marketing"/>
          </p:cNvPr>
          <p:cNvSpPr/>
          <p:nvPr/>
        </p:nvSpPr>
        <p:spPr>
          <a:xfrm>
            <a:off x="9646920" y="365760"/>
            <a:ext cx="2084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u="sng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Sales Narrative &amp; Co-market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 DOC  ▸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206240" y="914400"/>
            <a:ext cx="7498080" cy="786384"/>
          </a:xfrm>
          <a:prstGeom prst="roundRect">
            <a:avLst>
              <a:gd name="adj" fmla="val 9302"/>
            </a:avLst>
          </a:prstGeom>
          <a:solidFill>
            <a:srgbClr val="F8F1EC"/>
          </a:solidFill>
          <a:ln/>
        </p:spPr>
      </p:sp>
      <p:sp>
        <p:nvSpPr>
          <p:cNvPr id="13" name="Shape 10"/>
          <p:cNvSpPr/>
          <p:nvPr/>
        </p:nvSpPr>
        <p:spPr>
          <a:xfrm>
            <a:off x="4434840" y="1152144"/>
            <a:ext cx="914400" cy="310896"/>
          </a:xfrm>
          <a:prstGeom prst="roundRect">
            <a:avLst>
              <a:gd name="adj" fmla="val 35294"/>
            </a:avLst>
          </a:prstGeom>
          <a:solidFill>
            <a:srgbClr val="25043A"/>
          </a:solidFill>
          <a:ln/>
        </p:spPr>
      </p:sp>
      <p:sp>
        <p:nvSpPr>
          <p:cNvPr id="14" name="Text 11"/>
          <p:cNvSpPr/>
          <p:nvPr/>
        </p:nvSpPr>
        <p:spPr>
          <a:xfrm>
            <a:off x="4434840" y="115214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 27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5486400" y="969264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thread + “Why Verified — 5 Use Cases” + one-pager → pipeline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206240" y="1828800"/>
            <a:ext cx="7498080" cy="786384"/>
          </a:xfrm>
          <a:prstGeom prst="roundRect">
            <a:avLst>
              <a:gd name="adj" fmla="val 9302"/>
            </a:avLst>
          </a:prstGeom>
          <a:solidFill>
            <a:srgbClr val="F8F1EC"/>
          </a:solidFill>
          <a:ln/>
        </p:spPr>
      </p:sp>
      <p:sp>
        <p:nvSpPr>
          <p:cNvPr id="17" name="Shape 14"/>
          <p:cNvSpPr/>
          <p:nvPr/>
        </p:nvSpPr>
        <p:spPr>
          <a:xfrm>
            <a:off x="4434840" y="2066544"/>
            <a:ext cx="914400" cy="310896"/>
          </a:xfrm>
          <a:prstGeom prst="roundRect">
            <a:avLst>
              <a:gd name="adj" fmla="val 35294"/>
            </a:avLst>
          </a:prstGeom>
          <a:solidFill>
            <a:srgbClr val="25043A"/>
          </a:solidFill>
          <a:ln/>
        </p:spPr>
      </p:sp>
      <p:sp>
        <p:nvSpPr>
          <p:cNvPr id="18" name="Text 15"/>
          <p:cNvSpPr/>
          <p:nvPr/>
        </p:nvSpPr>
        <p:spPr>
          <a:xfrm>
            <a:off x="4434840" y="206654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 28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486400" y="1883664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thread + Verified vs Network visual + CALL FOR PROJECTS (first cohort)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206240" y="2743200"/>
            <a:ext cx="7498080" cy="786384"/>
          </a:xfrm>
          <a:prstGeom prst="roundRect">
            <a:avLst>
              <a:gd name="adj" fmla="val 9302"/>
            </a:avLst>
          </a:prstGeom>
          <a:solidFill>
            <a:srgbClr val="F8F1EC"/>
          </a:solidFill>
          <a:ln/>
        </p:spPr>
      </p:sp>
      <p:sp>
        <p:nvSpPr>
          <p:cNvPr id="21" name="Shape 18"/>
          <p:cNvSpPr/>
          <p:nvPr/>
        </p:nvSpPr>
        <p:spPr>
          <a:xfrm>
            <a:off x="4434840" y="2980944"/>
            <a:ext cx="914400" cy="310896"/>
          </a:xfrm>
          <a:prstGeom prst="roundRect">
            <a:avLst>
              <a:gd name="adj" fmla="val 35294"/>
            </a:avLst>
          </a:prstGeom>
          <a:solidFill>
            <a:srgbClr val="25043A"/>
          </a:solidFill>
          <a:ln/>
        </p:spPr>
      </p:sp>
      <p:sp>
        <p:nvSpPr>
          <p:cNvPr id="22" name="Text 19"/>
          <p:cNvSpPr/>
          <p:nvPr/>
        </p:nvSpPr>
        <p:spPr>
          <a:xfrm>
            <a:off x="4434840" y="298094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 1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486400" y="2798064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Flagship co-created campaign goes live (partner community)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4206240" y="3657600"/>
            <a:ext cx="7498080" cy="786384"/>
          </a:xfrm>
          <a:prstGeom prst="roundRect">
            <a:avLst>
              <a:gd name="adj" fmla="val 9302"/>
            </a:avLst>
          </a:prstGeom>
          <a:solidFill>
            <a:srgbClr val="F8F1EC"/>
          </a:solidFill>
          <a:ln/>
        </p:spPr>
      </p:sp>
      <p:sp>
        <p:nvSpPr>
          <p:cNvPr id="25" name="Shape 22"/>
          <p:cNvSpPr/>
          <p:nvPr/>
        </p:nvSpPr>
        <p:spPr>
          <a:xfrm>
            <a:off x="4434840" y="3895344"/>
            <a:ext cx="914400" cy="310896"/>
          </a:xfrm>
          <a:prstGeom prst="roundRect">
            <a:avLst>
              <a:gd name="adj" fmla="val 35294"/>
            </a:avLst>
          </a:prstGeom>
          <a:solidFill>
            <a:srgbClr val="25043A"/>
          </a:solidFill>
          <a:ln/>
        </p:spPr>
      </p:sp>
      <p:sp>
        <p:nvSpPr>
          <p:cNvPr id="26" name="Text 23"/>
          <p:cNvSpPr/>
          <p:nvPr/>
        </p:nvSpPr>
        <p:spPr>
          <a:xfrm>
            <a:off x="4434840" y="389534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W1–W2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5486400" y="3712464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 outreach to Sept–Oct launches — the video is the pitch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06240" y="4572000"/>
            <a:ext cx="7498080" cy="786384"/>
          </a:xfrm>
          <a:prstGeom prst="roundRect">
            <a:avLst>
              <a:gd name="adj" fmla="val 9302"/>
            </a:avLst>
          </a:prstGeom>
          <a:solidFill>
            <a:srgbClr val="F8F1EC"/>
          </a:solidFill>
          <a:ln/>
        </p:spPr>
      </p:sp>
      <p:sp>
        <p:nvSpPr>
          <p:cNvPr id="29" name="Shape 26"/>
          <p:cNvSpPr/>
          <p:nvPr/>
        </p:nvSpPr>
        <p:spPr>
          <a:xfrm>
            <a:off x="4434840" y="4809744"/>
            <a:ext cx="914400" cy="310896"/>
          </a:xfrm>
          <a:prstGeom prst="roundRect">
            <a:avLst>
              <a:gd name="adj" fmla="val 35294"/>
            </a:avLst>
          </a:prstGeom>
          <a:solidFill>
            <a:srgbClr val="25043A"/>
          </a:solidFill>
          <a:ln/>
        </p:spPr>
      </p:sp>
      <p:sp>
        <p:nvSpPr>
          <p:cNvPr id="30" name="Text 27"/>
          <p:cNvSpPr/>
          <p:nvPr/>
        </p:nvSpPr>
        <p:spPr>
          <a:xfrm>
            <a:off x="4434840" y="480974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 4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5486400" y="4626864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“the receipts” + sales article → pipeline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4206240" y="5486400"/>
            <a:ext cx="7498080" cy="786384"/>
          </a:xfrm>
          <a:prstGeom prst="roundRect">
            <a:avLst>
              <a:gd name="adj" fmla="val 9302"/>
            </a:avLst>
          </a:prstGeom>
          <a:solidFill>
            <a:srgbClr val="F8F1EC"/>
          </a:solidFill>
          <a:ln/>
        </p:spPr>
      </p:sp>
      <p:sp>
        <p:nvSpPr>
          <p:cNvPr id="33" name="Shape 30"/>
          <p:cNvSpPr/>
          <p:nvPr/>
        </p:nvSpPr>
        <p:spPr>
          <a:xfrm>
            <a:off x="4434840" y="5724144"/>
            <a:ext cx="914400" cy="310896"/>
          </a:xfrm>
          <a:prstGeom prst="roundRect">
            <a:avLst>
              <a:gd name="adj" fmla="val 35294"/>
            </a:avLst>
          </a:prstGeom>
          <a:solidFill>
            <a:srgbClr val="25043A"/>
          </a:solidFill>
          <a:ln/>
        </p:spPr>
      </p:sp>
      <p:sp>
        <p:nvSpPr>
          <p:cNvPr id="34" name="Text 31"/>
          <p:cNvSpPr/>
          <p:nvPr/>
        </p:nvSpPr>
        <p:spPr>
          <a:xfrm>
            <a:off x="4434840" y="572414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 3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5486400" y="5541264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Vision: “Rally, the Hub of Communities” — the story that closes communities</a:t>
            </a:r>
            <a:endParaRPr lang="en-US" sz="1200" dirty="0"/>
          </a:p>
        </p:txBody>
      </p:sp>
      <p:sp>
        <p:nvSpPr>
          <p:cNvPr id="36" name="Text 33">
            <a:hlinkClick r:id="rId3" tooltip=""/>
          </p:cNvPr>
          <p:cNvSpPr/>
          <p:nvPr/>
        </p:nvSpPr>
        <p:spPr>
          <a:xfrm>
            <a:off x="4206240" y="64465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u="sng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 Doc §6–7, 11.3–11.4  ▸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6858000"/>
          </a:xfrm>
          <a:prstGeom prst="rect">
            <a:avLst/>
          </a:prstGeom>
          <a:solidFill>
            <a:srgbClr val="25043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943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3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3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685800" cy="685800"/>
          </a:xfrm>
          <a:prstGeom prst="ellipse">
            <a:avLst/>
          </a:prstGeom>
          <a:solidFill>
            <a:srgbClr val="C43C0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2366" y="1191006"/>
            <a:ext cx="315468" cy="3154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1874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Creators Creating Campaigns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457200" y="28346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i="1" dirty="0">
                <a:solidFill>
                  <a:srgbClr val="CBB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Serves: acquisition narrative + social proof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457200" y="3520440"/>
            <a:ext cx="30175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35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E8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only lands when someone who isn't us says it</a:t>
            </a:r>
            <a:endParaRPr lang="en-US" sz="1100" dirty="0"/>
          </a:p>
          <a:p>
            <a:pPr marL="342900" indent="-342900">
              <a:lnSpc>
                <a:spcPts val="135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E8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Creators spend their own RLPs on their own campaigns — the loop, demonstrated</a:t>
            </a:r>
            <a:endParaRPr lang="en-US" sz="1100" dirty="0"/>
          </a:p>
          <a:p>
            <a:pPr marL="342900" indent="-342900">
              <a:lnSpc>
                <a:spcPts val="135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E8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content compounds: every spotlight makes the next creator want in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206240" y="4572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 &amp; TIMING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9646920" y="365760"/>
            <a:ext cx="2084832" cy="329184"/>
          </a:xfrm>
          <a:prstGeom prst="roundRect">
            <a:avLst>
              <a:gd name="adj" fmla="val 38889"/>
            </a:avLst>
          </a:prstGeom>
          <a:solidFill>
            <a:srgbClr val="FF4E00"/>
          </a:solidFill>
          <a:ln/>
        </p:spPr>
      </p:sp>
      <p:sp>
        <p:nvSpPr>
          <p:cNvPr id="11" name="Text 8">
            <a:hlinkClick r:id="rId2" tooltip="Creators Creating Campaigns"/>
          </p:cNvPr>
          <p:cNvSpPr/>
          <p:nvPr/>
        </p:nvSpPr>
        <p:spPr>
          <a:xfrm>
            <a:off x="9646920" y="365760"/>
            <a:ext cx="2084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u="sng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Creators Creating Campaign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 DOC  ▸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206240" y="914400"/>
            <a:ext cx="7498080" cy="786384"/>
          </a:xfrm>
          <a:prstGeom prst="roundRect">
            <a:avLst>
              <a:gd name="adj" fmla="val 9302"/>
            </a:avLst>
          </a:prstGeom>
          <a:solidFill>
            <a:srgbClr val="F8F1EC"/>
          </a:solidFill>
          <a:ln/>
        </p:spPr>
      </p:sp>
      <p:sp>
        <p:nvSpPr>
          <p:cNvPr id="13" name="Shape 10"/>
          <p:cNvSpPr/>
          <p:nvPr/>
        </p:nvSpPr>
        <p:spPr>
          <a:xfrm>
            <a:off x="4434840" y="1152144"/>
            <a:ext cx="914400" cy="310896"/>
          </a:xfrm>
          <a:prstGeom prst="roundRect">
            <a:avLst>
              <a:gd name="adj" fmla="val 35294"/>
            </a:avLst>
          </a:prstGeom>
          <a:solidFill>
            <a:srgbClr val="C43C00"/>
          </a:solidFill>
          <a:ln/>
        </p:spPr>
      </p:sp>
      <p:sp>
        <p:nvSpPr>
          <p:cNvPr id="14" name="Text 11"/>
          <p:cNvSpPr/>
          <p:nvPr/>
        </p:nvSpPr>
        <p:spPr>
          <a:xfrm>
            <a:off x="4434840" y="115214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 1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5486400" y="969264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 video #1 — “I launched a campaign, here's what happened” (their words)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206240" y="1828800"/>
            <a:ext cx="7498080" cy="786384"/>
          </a:xfrm>
          <a:prstGeom prst="roundRect">
            <a:avLst>
              <a:gd name="adj" fmla="val 9302"/>
            </a:avLst>
          </a:prstGeom>
          <a:solidFill>
            <a:srgbClr val="F8F1EC"/>
          </a:solidFill>
          <a:ln/>
        </p:spPr>
      </p:sp>
      <p:sp>
        <p:nvSpPr>
          <p:cNvPr id="17" name="Shape 14"/>
          <p:cNvSpPr/>
          <p:nvPr/>
        </p:nvSpPr>
        <p:spPr>
          <a:xfrm>
            <a:off x="4434840" y="2066544"/>
            <a:ext cx="914400" cy="310896"/>
          </a:xfrm>
          <a:prstGeom prst="roundRect">
            <a:avLst>
              <a:gd name="adj" fmla="val 35294"/>
            </a:avLst>
          </a:prstGeom>
          <a:solidFill>
            <a:srgbClr val="C43C00"/>
          </a:solidFill>
          <a:ln/>
        </p:spPr>
      </p:sp>
      <p:sp>
        <p:nvSpPr>
          <p:cNvPr id="18" name="Text 15"/>
          <p:cNvSpPr/>
          <p:nvPr/>
        </p:nvSpPr>
        <p:spPr>
          <a:xfrm>
            <a:off x="4434840" y="206654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 7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486400" y="1883664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Spotlight thread: best community campaigns (recurring every Monday)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206240" y="2743200"/>
            <a:ext cx="7498080" cy="786384"/>
          </a:xfrm>
          <a:prstGeom prst="roundRect">
            <a:avLst>
              <a:gd name="adj" fmla="val 9302"/>
            </a:avLst>
          </a:prstGeom>
          <a:solidFill>
            <a:srgbClr val="F8F1EC"/>
          </a:solidFill>
          <a:ln/>
        </p:spPr>
      </p:sp>
      <p:sp>
        <p:nvSpPr>
          <p:cNvPr id="21" name="Shape 18"/>
          <p:cNvSpPr/>
          <p:nvPr/>
        </p:nvSpPr>
        <p:spPr>
          <a:xfrm>
            <a:off x="4434840" y="2980944"/>
            <a:ext cx="914400" cy="310896"/>
          </a:xfrm>
          <a:prstGeom prst="roundRect">
            <a:avLst>
              <a:gd name="adj" fmla="val 35294"/>
            </a:avLst>
          </a:prstGeom>
          <a:solidFill>
            <a:srgbClr val="C43C00"/>
          </a:solidFill>
          <a:ln/>
        </p:spPr>
      </p:sp>
      <p:sp>
        <p:nvSpPr>
          <p:cNvPr id="22" name="Text 19"/>
          <p:cNvSpPr/>
          <p:nvPr/>
        </p:nvSpPr>
        <p:spPr>
          <a:xfrm>
            <a:off x="4434840" y="298094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 2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486400" y="2798064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video #2 — community-lead POV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4206240" y="3657600"/>
            <a:ext cx="7498080" cy="786384"/>
          </a:xfrm>
          <a:prstGeom prst="roundRect">
            <a:avLst>
              <a:gd name="adj" fmla="val 9302"/>
            </a:avLst>
          </a:prstGeom>
          <a:solidFill>
            <a:srgbClr val="F8F1EC"/>
          </a:solidFill>
          <a:ln/>
        </p:spPr>
      </p:sp>
      <p:sp>
        <p:nvSpPr>
          <p:cNvPr id="25" name="Shape 22"/>
          <p:cNvSpPr/>
          <p:nvPr/>
        </p:nvSpPr>
        <p:spPr>
          <a:xfrm>
            <a:off x="4434840" y="3895344"/>
            <a:ext cx="914400" cy="310896"/>
          </a:xfrm>
          <a:prstGeom prst="roundRect">
            <a:avLst>
              <a:gd name="adj" fmla="val 35294"/>
            </a:avLst>
          </a:prstGeom>
          <a:solidFill>
            <a:srgbClr val="C43C00"/>
          </a:solidFill>
          <a:ln/>
        </p:spPr>
      </p:sp>
      <p:sp>
        <p:nvSpPr>
          <p:cNvPr id="26" name="Text 23"/>
          <p:cNvSpPr/>
          <p:nvPr/>
        </p:nvSpPr>
        <p:spPr>
          <a:xfrm>
            <a:off x="4434840" y="389534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W2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5486400" y="3712464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 feeds the Battle: “What would you launch a campaign for?”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06240" y="4572000"/>
            <a:ext cx="7498080" cy="786384"/>
          </a:xfrm>
          <a:prstGeom prst="roundRect">
            <a:avLst>
              <a:gd name="adj" fmla="val 9302"/>
            </a:avLst>
          </a:prstGeom>
          <a:solidFill>
            <a:srgbClr val="F8F1EC"/>
          </a:solidFill>
          <a:ln/>
        </p:spPr>
      </p:sp>
      <p:sp>
        <p:nvSpPr>
          <p:cNvPr id="29" name="Shape 26"/>
          <p:cNvSpPr/>
          <p:nvPr/>
        </p:nvSpPr>
        <p:spPr>
          <a:xfrm>
            <a:off x="4434840" y="4809744"/>
            <a:ext cx="914400" cy="310896"/>
          </a:xfrm>
          <a:prstGeom prst="roundRect">
            <a:avLst>
              <a:gd name="adj" fmla="val 35294"/>
            </a:avLst>
          </a:prstGeom>
          <a:solidFill>
            <a:srgbClr val="C43C00"/>
          </a:solidFill>
          <a:ln/>
        </p:spPr>
      </p:sp>
      <p:sp>
        <p:nvSpPr>
          <p:cNvPr id="30" name="Text 27"/>
          <p:cNvSpPr/>
          <p:nvPr/>
        </p:nvSpPr>
        <p:spPr>
          <a:xfrm>
            <a:off x="4434840" y="480974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 5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5486400" y="4626864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Idea Battle — the winning community idea gets funded for real</a:t>
            </a:r>
            <a:endParaRPr lang="en-US" sz="1200" dirty="0"/>
          </a:p>
        </p:txBody>
      </p:sp>
      <p:sp>
        <p:nvSpPr>
          <p:cNvPr id="32" name="Text 29">
            <a:hlinkClick r:id="rId3" tooltip=""/>
          </p:cNvPr>
          <p:cNvSpPr/>
          <p:nvPr/>
        </p:nvSpPr>
        <p:spPr>
          <a:xfrm>
            <a:off x="4206240" y="64465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u="sng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 Doc §9, 11.1–11.2, 11.6  ▸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6858000"/>
          </a:xfrm>
          <a:prstGeom prst="rect">
            <a:avLst/>
          </a:prstGeom>
          <a:solidFill>
            <a:srgbClr val="25043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943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E55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4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685800" cy="685800"/>
          </a:xfrm>
          <a:prstGeom prst="ellipse">
            <a:avLst/>
          </a:prstGeom>
          <a:solidFill>
            <a:srgbClr val="6E5588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2366" y="1191006"/>
            <a:ext cx="315468" cy="3154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1874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Education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457200" y="28346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i="1" dirty="0">
                <a:solidFill>
                  <a:srgbClr val="CBB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Serves: concept unification + lowering the barrier to campaign #1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457200" y="3520440"/>
            <a:ext cx="30175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35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E8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minutes from idea to live — but only if people know how</a:t>
            </a:r>
            <a:endParaRPr lang="en-US" sz="1100" dirty="0"/>
          </a:p>
          <a:p>
            <a:pPr marL="342900" indent="-342900">
              <a:lnSpc>
                <a:spcPts val="135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E8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 content is evergreen: it keeps converting after the campaign ends</a:t>
            </a:r>
            <a:endParaRPr lang="en-US" sz="1100" dirty="0"/>
          </a:p>
          <a:p>
            <a:pPr marL="342900" indent="-342900">
              <a:lnSpc>
                <a:spcPts val="135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E8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Objections answered in public build trust faster than any ad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206240" y="4572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 &amp; TIMING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9646920" y="365760"/>
            <a:ext cx="2084832" cy="329184"/>
          </a:xfrm>
          <a:prstGeom prst="roundRect">
            <a:avLst>
              <a:gd name="adj" fmla="val 38889"/>
            </a:avLst>
          </a:prstGeom>
          <a:solidFill>
            <a:srgbClr val="FF4E00"/>
          </a:solidFill>
          <a:ln/>
        </p:spPr>
      </p:sp>
      <p:sp>
        <p:nvSpPr>
          <p:cNvPr id="11" name="Text 8">
            <a:hlinkClick r:id="rId2" tooltip="Concept Education"/>
          </p:cNvPr>
          <p:cNvSpPr/>
          <p:nvPr/>
        </p:nvSpPr>
        <p:spPr>
          <a:xfrm>
            <a:off x="9646920" y="365760"/>
            <a:ext cx="2084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u="sng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Concept Educatio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 DOC  ▸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206240" y="914400"/>
            <a:ext cx="7498080" cy="786384"/>
          </a:xfrm>
          <a:prstGeom prst="roundRect">
            <a:avLst>
              <a:gd name="adj" fmla="val 9302"/>
            </a:avLst>
          </a:prstGeom>
          <a:solidFill>
            <a:srgbClr val="F8F1EC"/>
          </a:solidFill>
          <a:ln/>
        </p:spPr>
      </p:sp>
      <p:sp>
        <p:nvSpPr>
          <p:cNvPr id="13" name="Shape 10"/>
          <p:cNvSpPr/>
          <p:nvPr/>
        </p:nvSpPr>
        <p:spPr>
          <a:xfrm>
            <a:off x="4434840" y="1152144"/>
            <a:ext cx="914400" cy="310896"/>
          </a:xfrm>
          <a:prstGeom prst="roundRect">
            <a:avLst>
              <a:gd name="adj" fmla="val 35294"/>
            </a:avLst>
          </a:prstGeom>
          <a:solidFill>
            <a:srgbClr val="6E5588"/>
          </a:solidFill>
          <a:ln/>
        </p:spPr>
      </p:sp>
      <p:sp>
        <p:nvSpPr>
          <p:cNvPr id="14" name="Text 11"/>
          <p:cNvSpPr/>
          <p:nvPr/>
        </p:nvSpPr>
        <p:spPr>
          <a:xfrm>
            <a:off x="4434840" y="115214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 26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5486400" y="969264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Article: “Permissionless Campaigns — How It Works” (evergreen explainer)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206240" y="1828800"/>
            <a:ext cx="7498080" cy="786384"/>
          </a:xfrm>
          <a:prstGeom prst="roundRect">
            <a:avLst>
              <a:gd name="adj" fmla="val 9302"/>
            </a:avLst>
          </a:prstGeom>
          <a:solidFill>
            <a:srgbClr val="F8F1EC"/>
          </a:solidFill>
          <a:ln/>
        </p:spPr>
      </p:sp>
      <p:sp>
        <p:nvSpPr>
          <p:cNvPr id="17" name="Shape 14"/>
          <p:cNvSpPr/>
          <p:nvPr/>
        </p:nvSpPr>
        <p:spPr>
          <a:xfrm>
            <a:off x="4434840" y="2066544"/>
            <a:ext cx="914400" cy="310896"/>
          </a:xfrm>
          <a:prstGeom prst="roundRect">
            <a:avLst>
              <a:gd name="adj" fmla="val 35294"/>
            </a:avLst>
          </a:prstGeom>
          <a:solidFill>
            <a:srgbClr val="6E5588"/>
          </a:solidFill>
          <a:ln/>
        </p:spPr>
      </p:sp>
      <p:sp>
        <p:nvSpPr>
          <p:cNvPr id="18" name="Text 15"/>
          <p:cNvSpPr/>
          <p:nvPr/>
        </p:nvSpPr>
        <p:spPr>
          <a:xfrm>
            <a:off x="4434840" y="206654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 28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486400" y="1883664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Article: “Why RLPs Matter” — points become working capital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206240" y="2743200"/>
            <a:ext cx="7498080" cy="786384"/>
          </a:xfrm>
          <a:prstGeom prst="roundRect">
            <a:avLst>
              <a:gd name="adj" fmla="val 9302"/>
            </a:avLst>
          </a:prstGeom>
          <a:solidFill>
            <a:srgbClr val="F8F1EC"/>
          </a:solidFill>
          <a:ln/>
        </p:spPr>
      </p:sp>
      <p:sp>
        <p:nvSpPr>
          <p:cNvPr id="21" name="Shape 18"/>
          <p:cNvSpPr/>
          <p:nvPr/>
        </p:nvSpPr>
        <p:spPr>
          <a:xfrm>
            <a:off x="4434840" y="2980944"/>
            <a:ext cx="914400" cy="310896"/>
          </a:xfrm>
          <a:prstGeom prst="roundRect">
            <a:avLst>
              <a:gd name="adj" fmla="val 35294"/>
            </a:avLst>
          </a:prstGeom>
          <a:solidFill>
            <a:srgbClr val="6E5588"/>
          </a:solidFill>
          <a:ln/>
        </p:spPr>
      </p:sp>
      <p:sp>
        <p:nvSpPr>
          <p:cNvPr id="22" name="Text 19"/>
          <p:cNvSpPr/>
          <p:nvPr/>
        </p:nvSpPr>
        <p:spPr>
          <a:xfrm>
            <a:off x="4434840" y="298094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 31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486400" y="2798064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“Launch a campaign in 10 minutes” + guide “How to Write a Campaign Brief”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4206240" y="3657600"/>
            <a:ext cx="7498080" cy="786384"/>
          </a:xfrm>
          <a:prstGeom prst="roundRect">
            <a:avLst>
              <a:gd name="adj" fmla="val 9302"/>
            </a:avLst>
          </a:prstGeom>
          <a:solidFill>
            <a:srgbClr val="F8F1EC"/>
          </a:solidFill>
          <a:ln/>
        </p:spPr>
      </p:sp>
      <p:sp>
        <p:nvSpPr>
          <p:cNvPr id="25" name="Shape 22"/>
          <p:cNvSpPr/>
          <p:nvPr/>
        </p:nvSpPr>
        <p:spPr>
          <a:xfrm>
            <a:off x="4434840" y="3895344"/>
            <a:ext cx="914400" cy="310896"/>
          </a:xfrm>
          <a:prstGeom prst="roundRect">
            <a:avLst>
              <a:gd name="adj" fmla="val 35294"/>
            </a:avLst>
          </a:prstGeom>
          <a:solidFill>
            <a:srgbClr val="6E5588"/>
          </a:solidFill>
          <a:ln/>
        </p:spPr>
      </p:sp>
      <p:sp>
        <p:nvSpPr>
          <p:cNvPr id="26" name="Text 23"/>
          <p:cNvSpPr/>
          <p:nvPr/>
        </p:nvSpPr>
        <p:spPr>
          <a:xfrm>
            <a:off x="4434840" y="389534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 29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5486400" y="3712464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Space: Creators &amp; Partners AMA — first campaigns debrief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06240" y="4572000"/>
            <a:ext cx="7498080" cy="786384"/>
          </a:xfrm>
          <a:prstGeom prst="roundRect">
            <a:avLst>
              <a:gd name="adj" fmla="val 9302"/>
            </a:avLst>
          </a:prstGeom>
          <a:solidFill>
            <a:srgbClr val="F8F1EC"/>
          </a:solidFill>
          <a:ln/>
        </p:spPr>
      </p:sp>
      <p:sp>
        <p:nvSpPr>
          <p:cNvPr id="29" name="Shape 26"/>
          <p:cNvSpPr/>
          <p:nvPr/>
        </p:nvSpPr>
        <p:spPr>
          <a:xfrm>
            <a:off x="4434840" y="4809744"/>
            <a:ext cx="914400" cy="310896"/>
          </a:xfrm>
          <a:prstGeom prst="roundRect">
            <a:avLst>
              <a:gd name="adj" fmla="val 35294"/>
            </a:avLst>
          </a:prstGeom>
          <a:solidFill>
            <a:srgbClr val="6E5588"/>
          </a:solidFill>
          <a:ln/>
        </p:spPr>
      </p:sp>
      <p:sp>
        <p:nvSpPr>
          <p:cNvPr id="30" name="Text 27"/>
          <p:cNvSpPr/>
          <p:nvPr/>
        </p:nvSpPr>
        <p:spPr>
          <a:xfrm>
            <a:off x="4434840" y="480974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5486400" y="4626864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Objections cheat sheet + tagline bank (Spaces, AMAs, replies)</a:t>
            </a:r>
            <a:endParaRPr lang="en-US" sz="1200" dirty="0"/>
          </a:p>
        </p:txBody>
      </p:sp>
      <p:sp>
        <p:nvSpPr>
          <p:cNvPr id="32" name="Text 29">
            <a:hlinkClick r:id="rId3" tooltip=""/>
          </p:cNvPr>
          <p:cNvSpPr/>
          <p:nvPr/>
        </p:nvSpPr>
        <p:spPr>
          <a:xfrm>
            <a:off x="4206240" y="64465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u="sng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 Doc §5.4, 7.5, 8, 10, 13  ▸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FF4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CALENDAR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days · color-coded by pillar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646920" y="365760"/>
            <a:ext cx="2084832" cy="329184"/>
          </a:xfrm>
          <a:prstGeom prst="roundRect">
            <a:avLst>
              <a:gd name="adj" fmla="val 38889"/>
            </a:avLst>
          </a:prstGeom>
          <a:solidFill>
            <a:srgbClr val="FF4E00"/>
          </a:solidFill>
          <a:ln/>
        </p:spPr>
      </p:sp>
      <p:sp>
        <p:nvSpPr>
          <p:cNvPr id="5" name="Text 3">
            <a:hlinkClick r:id="rId1" tooltip="Calendar"/>
          </p:cNvPr>
          <p:cNvSpPr/>
          <p:nvPr/>
        </p:nvSpPr>
        <p:spPr>
          <a:xfrm>
            <a:off x="9646920" y="365760"/>
            <a:ext cx="2084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u="sng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Calenda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 DOC  ▸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30352" y="1298448"/>
            <a:ext cx="146304" cy="146304"/>
          </a:xfrm>
          <a:prstGeom prst="ellipse">
            <a:avLst/>
          </a:prstGeom>
          <a:solidFill>
            <a:srgbClr val="FF4E00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161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700784" y="1298448"/>
            <a:ext cx="146304" cy="146304"/>
          </a:xfrm>
          <a:prstGeom prst="ellipse">
            <a:avLst/>
          </a:prstGeom>
          <a:solidFill>
            <a:srgbClr val="25043A"/>
          </a:solidFill>
          <a:ln/>
        </p:spPr>
      </p:sp>
      <p:sp>
        <p:nvSpPr>
          <p:cNvPr id="9" name="Text 7"/>
          <p:cNvSpPr/>
          <p:nvPr/>
        </p:nvSpPr>
        <p:spPr>
          <a:xfrm>
            <a:off x="1901952" y="12161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871216" y="1298448"/>
            <a:ext cx="146304" cy="146304"/>
          </a:xfrm>
          <a:prstGeom prst="ellipse">
            <a:avLst/>
          </a:prstGeom>
          <a:solidFill>
            <a:srgbClr val="C43C00"/>
          </a:solidFill>
          <a:ln/>
        </p:spPr>
      </p:sp>
      <p:sp>
        <p:nvSpPr>
          <p:cNvPr id="11" name="Text 9"/>
          <p:cNvSpPr/>
          <p:nvPr/>
        </p:nvSpPr>
        <p:spPr>
          <a:xfrm>
            <a:off x="3072384" y="12161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41648" y="1298448"/>
            <a:ext cx="146304" cy="146304"/>
          </a:xfrm>
          <a:prstGeom prst="ellipse">
            <a:avLst/>
          </a:prstGeom>
          <a:solidFill>
            <a:srgbClr val="6E5588"/>
          </a:solidFill>
          <a:ln/>
        </p:spPr>
      </p:sp>
      <p:sp>
        <p:nvSpPr>
          <p:cNvPr id="13" name="Text 11"/>
          <p:cNvSpPr/>
          <p:nvPr/>
        </p:nvSpPr>
        <p:spPr>
          <a:xfrm>
            <a:off x="4242816" y="12161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675120" y="12161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PRE-LAUNCH: Mon Aug 24 teaser · Tue 25 countdown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02920" y="16276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· AUG 26 – SEP 1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1920240"/>
            <a:ext cx="1792224" cy="1965960"/>
          </a:xfrm>
          <a:prstGeom prst="roundRect">
            <a:avLst>
              <a:gd name="adj" fmla="val 4082"/>
            </a:avLst>
          </a:prstGeom>
          <a:solidFill>
            <a:srgbClr val="25043A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02996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26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801368" y="2075688"/>
            <a:ext cx="137160" cy="137160"/>
          </a:xfrm>
          <a:prstGeom prst="ellipse">
            <a:avLst/>
          </a:prstGeom>
          <a:solidFill>
            <a:srgbClr val="FF4E00"/>
          </a:solidFill>
          <a:ln/>
        </p:spPr>
      </p:sp>
      <p:sp>
        <p:nvSpPr>
          <p:cNvPr id="19" name="Shape 17"/>
          <p:cNvSpPr/>
          <p:nvPr/>
        </p:nvSpPr>
        <p:spPr>
          <a:xfrm>
            <a:off x="1581912" y="2075688"/>
            <a:ext cx="137160" cy="137160"/>
          </a:xfrm>
          <a:prstGeom prst="ellipse">
            <a:avLst/>
          </a:prstGeom>
          <a:solidFill>
            <a:srgbClr val="6E5588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230428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283464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E8D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 + thread + mailing + KOL campaigns + How-It-Works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86584" y="1920240"/>
            <a:ext cx="1792224" cy="1965960"/>
          </a:xfrm>
          <a:prstGeom prst="roundRect">
            <a:avLst>
              <a:gd name="adj" fmla="val 4082"/>
            </a:avLst>
          </a:prstGeom>
          <a:solidFill>
            <a:srgbClr val="F8F1EC"/>
          </a:solidFill>
          <a:ln/>
        </p:spPr>
      </p:sp>
      <p:sp>
        <p:nvSpPr>
          <p:cNvPr id="23" name="Text 21"/>
          <p:cNvSpPr/>
          <p:nvPr/>
        </p:nvSpPr>
        <p:spPr>
          <a:xfrm>
            <a:off x="2523744" y="202996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27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685032" y="2075688"/>
            <a:ext cx="137160" cy="137160"/>
          </a:xfrm>
          <a:prstGeom prst="ellipse">
            <a:avLst/>
          </a:prstGeom>
          <a:solidFill>
            <a:srgbClr val="25043A"/>
          </a:solidFill>
          <a:ln/>
        </p:spPr>
      </p:sp>
      <p:sp>
        <p:nvSpPr>
          <p:cNvPr id="25" name="Text 23"/>
          <p:cNvSpPr/>
          <p:nvPr/>
        </p:nvSpPr>
        <p:spPr>
          <a:xfrm>
            <a:off x="2523744" y="230428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300" b="1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523744" y="283464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$1,500 + use cases + one-pager → pipeline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270248" y="1920240"/>
            <a:ext cx="1792224" cy="1965960"/>
          </a:xfrm>
          <a:prstGeom prst="roundRect">
            <a:avLst>
              <a:gd name="adj" fmla="val 4082"/>
            </a:avLst>
          </a:prstGeom>
          <a:solidFill>
            <a:srgbClr val="F8F1EC"/>
          </a:solidFill>
          <a:ln/>
        </p:spPr>
      </p:sp>
      <p:sp>
        <p:nvSpPr>
          <p:cNvPr id="28" name="Text 26"/>
          <p:cNvSpPr/>
          <p:nvPr/>
        </p:nvSpPr>
        <p:spPr>
          <a:xfrm>
            <a:off x="4407408" y="202996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 28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568696" y="2075688"/>
            <a:ext cx="137160" cy="137160"/>
          </a:xfrm>
          <a:prstGeom prst="ellipse">
            <a:avLst/>
          </a:prstGeom>
          <a:solidFill>
            <a:srgbClr val="25043A"/>
          </a:solidFill>
          <a:ln/>
        </p:spPr>
      </p:sp>
      <p:sp>
        <p:nvSpPr>
          <p:cNvPr id="30" name="Shape 28"/>
          <p:cNvSpPr/>
          <p:nvPr/>
        </p:nvSpPr>
        <p:spPr>
          <a:xfrm>
            <a:off x="5349240" y="2075688"/>
            <a:ext cx="137160" cy="137160"/>
          </a:xfrm>
          <a:prstGeom prst="ellipse">
            <a:avLst/>
          </a:prstGeom>
          <a:solidFill>
            <a:srgbClr val="6E5588"/>
          </a:solidFill>
          <a:ln/>
        </p:spPr>
      </p:sp>
      <p:sp>
        <p:nvSpPr>
          <p:cNvPr id="31" name="Text 29"/>
          <p:cNvSpPr/>
          <p:nvPr/>
        </p:nvSpPr>
        <p:spPr>
          <a:xfrm>
            <a:off x="4407408" y="230428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300" b="1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407408" y="283464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+ comparison visual + Call for Projects + RLPs article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153912" y="1920240"/>
            <a:ext cx="1792224" cy="1965960"/>
          </a:xfrm>
          <a:prstGeom prst="roundRect">
            <a:avLst>
              <a:gd name="adj" fmla="val 4082"/>
            </a:avLst>
          </a:prstGeom>
          <a:solidFill>
            <a:srgbClr val="F8F1EC"/>
          </a:solidFill>
          <a:ln/>
        </p:spPr>
      </p:sp>
      <p:sp>
        <p:nvSpPr>
          <p:cNvPr id="34" name="Text 32"/>
          <p:cNvSpPr/>
          <p:nvPr/>
        </p:nvSpPr>
        <p:spPr>
          <a:xfrm>
            <a:off x="6291072" y="202996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29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7452360" y="2075688"/>
            <a:ext cx="137160" cy="137160"/>
          </a:xfrm>
          <a:prstGeom prst="ellipse">
            <a:avLst/>
          </a:prstGeom>
          <a:solidFill>
            <a:srgbClr val="6E5588"/>
          </a:solidFill>
          <a:ln/>
        </p:spPr>
      </p:sp>
      <p:sp>
        <p:nvSpPr>
          <p:cNvPr id="36" name="Text 34"/>
          <p:cNvSpPr/>
          <p:nvPr/>
        </p:nvSpPr>
        <p:spPr>
          <a:xfrm>
            <a:off x="6291072" y="230428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300" b="1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Debrief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291072" y="283464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Space: creators &amp; partners AMA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8037576" y="1920240"/>
            <a:ext cx="1792224" cy="1965960"/>
          </a:xfrm>
          <a:prstGeom prst="roundRect">
            <a:avLst>
              <a:gd name="adj" fmla="val 4082"/>
            </a:avLst>
          </a:prstGeom>
          <a:solidFill>
            <a:srgbClr val="F8F1EC"/>
          </a:solidFill>
          <a:ln/>
        </p:spPr>
      </p:sp>
      <p:sp>
        <p:nvSpPr>
          <p:cNvPr id="39" name="Text 37"/>
          <p:cNvSpPr/>
          <p:nvPr/>
        </p:nvSpPr>
        <p:spPr>
          <a:xfrm>
            <a:off x="8174736" y="202996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31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9336024" y="2075688"/>
            <a:ext cx="137160" cy="137160"/>
          </a:xfrm>
          <a:prstGeom prst="ellipse">
            <a:avLst/>
          </a:prstGeom>
          <a:solidFill>
            <a:srgbClr val="6E5588"/>
          </a:solidFill>
          <a:ln/>
        </p:spPr>
      </p:sp>
      <p:sp>
        <p:nvSpPr>
          <p:cNvPr id="41" name="Text 39"/>
          <p:cNvSpPr/>
          <p:nvPr/>
        </p:nvSpPr>
        <p:spPr>
          <a:xfrm>
            <a:off x="8174736" y="230428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300" b="1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8174736" y="283464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“10 minutes” live build + brief guide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9921240" y="1920240"/>
            <a:ext cx="1792224" cy="1965960"/>
          </a:xfrm>
          <a:prstGeom prst="roundRect">
            <a:avLst>
              <a:gd name="adj" fmla="val 4082"/>
            </a:avLst>
          </a:prstGeom>
          <a:solidFill>
            <a:srgbClr val="F8F1EC"/>
          </a:solidFill>
          <a:ln/>
        </p:spPr>
      </p:sp>
      <p:sp>
        <p:nvSpPr>
          <p:cNvPr id="44" name="Text 42"/>
          <p:cNvSpPr/>
          <p:nvPr/>
        </p:nvSpPr>
        <p:spPr>
          <a:xfrm>
            <a:off x="10058400" y="202996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 1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11219688" y="2075688"/>
            <a:ext cx="137160" cy="137160"/>
          </a:xfrm>
          <a:prstGeom prst="ellipse">
            <a:avLst/>
          </a:prstGeom>
          <a:solidFill>
            <a:srgbClr val="C43C00"/>
          </a:solidFill>
          <a:ln/>
        </p:spPr>
      </p:sp>
      <p:sp>
        <p:nvSpPr>
          <p:cNvPr id="46" name="Shape 44"/>
          <p:cNvSpPr/>
          <p:nvPr/>
        </p:nvSpPr>
        <p:spPr>
          <a:xfrm>
            <a:off x="11000232" y="2075688"/>
            <a:ext cx="137160" cy="137160"/>
          </a:xfrm>
          <a:prstGeom prst="ellipse">
            <a:avLst/>
          </a:prstGeom>
          <a:solidFill>
            <a:srgbClr val="25043A"/>
          </a:solidFill>
          <a:ln/>
        </p:spPr>
      </p:sp>
      <p:sp>
        <p:nvSpPr>
          <p:cNvPr id="47" name="Text 45"/>
          <p:cNvSpPr/>
          <p:nvPr/>
        </p:nvSpPr>
        <p:spPr>
          <a:xfrm>
            <a:off x="10058400" y="230428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300" b="1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 Video #1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10058400" y="283464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testimonial + flagship co-created campaign live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02920" y="39593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PROOF · SEP 2 – 8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502920" y="4251960"/>
            <a:ext cx="1792224" cy="1965960"/>
          </a:xfrm>
          <a:prstGeom prst="roundRect">
            <a:avLst>
              <a:gd name="adj" fmla="val 4082"/>
            </a:avLst>
          </a:prstGeom>
          <a:solidFill>
            <a:srgbClr val="F8F1EC"/>
          </a:solidFill>
          <a:ln/>
        </p:spPr>
      </p:sp>
      <p:sp>
        <p:nvSpPr>
          <p:cNvPr id="51" name="Text 49"/>
          <p:cNvSpPr/>
          <p:nvPr/>
        </p:nvSpPr>
        <p:spPr>
          <a:xfrm>
            <a:off x="640080" y="43616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2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1801368" y="4407408"/>
            <a:ext cx="137160" cy="137160"/>
          </a:xfrm>
          <a:prstGeom prst="ellipse">
            <a:avLst/>
          </a:prstGeom>
          <a:solidFill>
            <a:srgbClr val="C43C00"/>
          </a:solidFill>
          <a:ln/>
        </p:spPr>
      </p:sp>
      <p:sp>
        <p:nvSpPr>
          <p:cNvPr id="53" name="Text 51"/>
          <p:cNvSpPr/>
          <p:nvPr/>
        </p:nvSpPr>
        <p:spPr>
          <a:xfrm>
            <a:off x="640080" y="4636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300" b="1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Video #2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640080" y="516636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community-lead testimonial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2386584" y="4251960"/>
            <a:ext cx="1792224" cy="1965960"/>
          </a:xfrm>
          <a:prstGeom prst="roundRect">
            <a:avLst>
              <a:gd name="adj" fmla="val 4082"/>
            </a:avLst>
          </a:prstGeom>
          <a:solidFill>
            <a:srgbClr val="F8F1EC"/>
          </a:solidFill>
          <a:ln/>
        </p:spPr>
      </p:sp>
      <p:sp>
        <p:nvSpPr>
          <p:cNvPr id="56" name="Text 54"/>
          <p:cNvSpPr/>
          <p:nvPr/>
        </p:nvSpPr>
        <p:spPr>
          <a:xfrm>
            <a:off x="2523744" y="43616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3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3685032" y="4407408"/>
            <a:ext cx="137160" cy="137160"/>
          </a:xfrm>
          <a:prstGeom prst="ellipse">
            <a:avLst/>
          </a:prstGeom>
          <a:solidFill>
            <a:srgbClr val="25043A"/>
          </a:solidFill>
          <a:ln/>
        </p:spPr>
      </p:sp>
      <p:sp>
        <p:nvSpPr>
          <p:cNvPr id="58" name="Text 56"/>
          <p:cNvSpPr/>
          <p:nvPr/>
        </p:nvSpPr>
        <p:spPr>
          <a:xfrm>
            <a:off x="2523744" y="4636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300" b="1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2523744" y="516636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“Rally, the Hub of Communities”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270248" y="4251960"/>
            <a:ext cx="1792224" cy="1965960"/>
          </a:xfrm>
          <a:prstGeom prst="roundRect">
            <a:avLst>
              <a:gd name="adj" fmla="val 4082"/>
            </a:avLst>
          </a:prstGeom>
          <a:solidFill>
            <a:srgbClr val="F8F1EC"/>
          </a:solidFill>
          <a:ln/>
        </p:spPr>
      </p:sp>
      <p:sp>
        <p:nvSpPr>
          <p:cNvPr id="61" name="Text 59"/>
          <p:cNvSpPr/>
          <p:nvPr/>
        </p:nvSpPr>
        <p:spPr>
          <a:xfrm>
            <a:off x="4407408" y="43616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 4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5568696" y="4407408"/>
            <a:ext cx="137160" cy="137160"/>
          </a:xfrm>
          <a:prstGeom prst="ellipse">
            <a:avLst/>
          </a:prstGeom>
          <a:solidFill>
            <a:srgbClr val="25043A"/>
          </a:solidFill>
          <a:ln/>
        </p:spPr>
      </p:sp>
      <p:sp>
        <p:nvSpPr>
          <p:cNvPr id="63" name="Text 61"/>
          <p:cNvSpPr/>
          <p:nvPr/>
        </p:nvSpPr>
        <p:spPr>
          <a:xfrm>
            <a:off x="4407408" y="4636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300" b="1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4407408" y="516636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receipts” + sales article → pipeline + KOL push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6153912" y="4251960"/>
            <a:ext cx="1792224" cy="1965960"/>
          </a:xfrm>
          <a:prstGeom prst="roundRect">
            <a:avLst>
              <a:gd name="adj" fmla="val 4082"/>
            </a:avLst>
          </a:prstGeom>
          <a:solidFill>
            <a:srgbClr val="F8F1EC"/>
          </a:solidFill>
          <a:ln/>
        </p:spPr>
      </p:sp>
      <p:sp>
        <p:nvSpPr>
          <p:cNvPr id="66" name="Text 64"/>
          <p:cNvSpPr/>
          <p:nvPr/>
        </p:nvSpPr>
        <p:spPr>
          <a:xfrm>
            <a:off x="6291072" y="43616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5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7452360" y="4407408"/>
            <a:ext cx="137160" cy="137160"/>
          </a:xfrm>
          <a:prstGeom prst="ellipse">
            <a:avLst/>
          </a:prstGeom>
          <a:solidFill>
            <a:srgbClr val="C43C00"/>
          </a:solidFill>
          <a:ln/>
        </p:spPr>
      </p:sp>
      <p:sp>
        <p:nvSpPr>
          <p:cNvPr id="68" name="Text 66"/>
          <p:cNvSpPr/>
          <p:nvPr/>
        </p:nvSpPr>
        <p:spPr>
          <a:xfrm>
            <a:off x="6291072" y="4636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300" b="1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Day</a:t>
            </a:r>
            <a:endParaRPr lang="en-US" sz="1300" dirty="0"/>
          </a:p>
        </p:txBody>
      </p:sp>
      <p:sp>
        <p:nvSpPr>
          <p:cNvPr id="69" name="Text 67"/>
          <p:cNvSpPr/>
          <p:nvPr/>
        </p:nvSpPr>
        <p:spPr>
          <a:xfrm>
            <a:off x="6291072" y="516636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 + Campaign Idea Battle (winner funded)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8037576" y="4251960"/>
            <a:ext cx="1792224" cy="1965960"/>
          </a:xfrm>
          <a:prstGeom prst="roundRect">
            <a:avLst>
              <a:gd name="adj" fmla="val 4082"/>
            </a:avLst>
          </a:prstGeom>
          <a:solidFill>
            <a:srgbClr val="F8F1EC"/>
          </a:solidFill>
          <a:ln/>
        </p:spPr>
      </p:sp>
      <p:sp>
        <p:nvSpPr>
          <p:cNvPr id="71" name="Text 69"/>
          <p:cNvSpPr/>
          <p:nvPr/>
        </p:nvSpPr>
        <p:spPr>
          <a:xfrm>
            <a:off x="8174736" y="43616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7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9336024" y="4407408"/>
            <a:ext cx="137160" cy="137160"/>
          </a:xfrm>
          <a:prstGeom prst="ellipse">
            <a:avLst/>
          </a:prstGeom>
          <a:solidFill>
            <a:srgbClr val="C43C00"/>
          </a:solidFill>
          <a:ln/>
        </p:spPr>
      </p:sp>
      <p:sp>
        <p:nvSpPr>
          <p:cNvPr id="73" name="Text 71"/>
          <p:cNvSpPr/>
          <p:nvPr/>
        </p:nvSpPr>
        <p:spPr>
          <a:xfrm>
            <a:off x="8174736" y="4636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300" b="1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Spotlight</a:t>
            </a:r>
            <a:endParaRPr lang="en-US" sz="1300" dirty="0"/>
          </a:p>
        </p:txBody>
      </p:sp>
      <p:sp>
        <p:nvSpPr>
          <p:cNvPr id="74" name="Text 72"/>
          <p:cNvSpPr/>
          <p:nvPr/>
        </p:nvSpPr>
        <p:spPr>
          <a:xfrm>
            <a:off x="8174736" y="516636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community campaigns (every Monday)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9921240" y="4251960"/>
            <a:ext cx="1792224" cy="1965960"/>
          </a:xfrm>
          <a:prstGeom prst="roundRect">
            <a:avLst>
              <a:gd name="adj" fmla="val 4082"/>
            </a:avLst>
          </a:prstGeom>
          <a:solidFill>
            <a:srgbClr val="F8F1EC"/>
          </a:solidFill>
          <a:ln/>
        </p:spPr>
      </p:sp>
      <p:sp>
        <p:nvSpPr>
          <p:cNvPr id="76" name="Text 74"/>
          <p:cNvSpPr/>
          <p:nvPr/>
        </p:nvSpPr>
        <p:spPr>
          <a:xfrm>
            <a:off x="10058400" y="43616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 8</a:t>
            </a:r>
            <a:endParaRPr lang="en-US" sz="1050" dirty="0"/>
          </a:p>
        </p:txBody>
      </p:sp>
      <p:sp>
        <p:nvSpPr>
          <p:cNvPr id="77" name="Shape 75"/>
          <p:cNvSpPr/>
          <p:nvPr/>
        </p:nvSpPr>
        <p:spPr>
          <a:xfrm>
            <a:off x="11219688" y="4407408"/>
            <a:ext cx="137160" cy="137160"/>
          </a:xfrm>
          <a:prstGeom prst="ellipse">
            <a:avLst/>
          </a:prstGeom>
          <a:solidFill>
            <a:srgbClr val="FF4E00"/>
          </a:solidFill>
          <a:ln/>
        </p:spPr>
      </p:sp>
      <p:sp>
        <p:nvSpPr>
          <p:cNvPr id="78" name="Text 76"/>
          <p:cNvSpPr/>
          <p:nvPr/>
        </p:nvSpPr>
        <p:spPr>
          <a:xfrm>
            <a:off x="10058400" y="4636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300" b="1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</a:t>
            </a:r>
            <a:endParaRPr lang="en-US" sz="1300" dirty="0"/>
          </a:p>
        </p:txBody>
      </p:sp>
      <p:sp>
        <p:nvSpPr>
          <p:cNvPr id="79" name="Text 77"/>
          <p:cNvSpPr/>
          <p:nvPr/>
        </p:nvSpPr>
        <p:spPr>
          <a:xfrm>
            <a:off x="10058400" y="516636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receipts thread (screenshots) + cutdown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FF4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need from design — all copy is final, design never waits for text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646920" y="365760"/>
            <a:ext cx="2084832" cy="329184"/>
          </a:xfrm>
          <a:prstGeom prst="roundRect">
            <a:avLst>
              <a:gd name="adj" fmla="val 38889"/>
            </a:avLst>
          </a:prstGeom>
          <a:solidFill>
            <a:srgbClr val="FF4E00"/>
          </a:solidFill>
          <a:ln/>
        </p:spPr>
      </p:sp>
      <p:sp>
        <p:nvSpPr>
          <p:cNvPr id="5" name="Text 3">
            <a:hlinkClick r:id="rId1" tooltip="Design requests"/>
          </p:cNvPr>
          <p:cNvSpPr/>
          <p:nvPr/>
        </p:nvSpPr>
        <p:spPr>
          <a:xfrm>
            <a:off x="9646920" y="365760"/>
            <a:ext cx="2084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u="sng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Design request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 DOC  ▸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3566160" cy="4206240"/>
          </a:xfrm>
          <a:prstGeom prst="roundRect">
            <a:avLst>
              <a:gd name="adj" fmla="val 2564"/>
            </a:avLst>
          </a:prstGeom>
          <a:solidFill>
            <a:srgbClr val="25043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66420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 · BEFORE THE DROP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195681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BB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Aug 21–25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77240" y="2377440"/>
            <a:ext cx="3063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35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 edit (script locked) — the only heavy lift</a:t>
            </a:r>
            <a:endParaRPr lang="en-US" sz="1150" dirty="0"/>
          </a:p>
          <a:p>
            <a:pPr marL="342900" indent="-342900">
              <a:lnSpc>
                <a:spcPts val="135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Teaser 15s + countdown graphic</a:t>
            </a:r>
            <a:endParaRPr lang="en-US" sz="1150" dirty="0"/>
          </a:p>
          <a:p>
            <a:pPr marL="342900" indent="-342900">
              <a:lnSpc>
                <a:spcPts val="135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 kit for communities, creators &amp; KOLs</a:t>
            </a:r>
            <a:endParaRPr lang="en-US" sz="1150" dirty="0"/>
          </a:p>
          <a:p>
            <a:pPr marL="342900" indent="-342900">
              <a:lnSpc>
                <a:spcPts val="135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 images (thread + article) + email header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25112" y="1417320"/>
            <a:ext cx="3566160" cy="4206240"/>
          </a:xfrm>
          <a:prstGeom prst="roundRect">
            <a:avLst>
              <a:gd name="adj" fmla="val 2564"/>
            </a:avLst>
          </a:prstGeom>
          <a:solidFill>
            <a:srgbClr val="F8F1EC"/>
          </a:solidFill>
          <a:ln/>
        </p:spPr>
      </p:sp>
      <p:sp>
        <p:nvSpPr>
          <p:cNvPr id="11" name="Text 9"/>
          <p:cNvSpPr/>
          <p:nvPr/>
        </p:nvSpPr>
        <p:spPr>
          <a:xfrm>
            <a:off x="4599432" y="166420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 · LAUNCH WEEK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99432" y="195681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Aug 26–31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99432" y="2377440"/>
            <a:ext cx="3063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35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one-pager PDF (the sales asset)</a:t>
            </a:r>
            <a:endParaRPr lang="en-US" sz="1150" dirty="0"/>
          </a:p>
          <a:p>
            <a:pPr marL="342900" indent="-342900">
              <a:lnSpc>
                <a:spcPts val="135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vs Network comparison visual</a:t>
            </a:r>
            <a:endParaRPr lang="en-US" sz="1150" dirty="0"/>
          </a:p>
          <a:p>
            <a:pPr marL="342900" indent="-342900">
              <a:lnSpc>
                <a:spcPts val="135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for Projects banner + form header</a:t>
            </a:r>
            <a:endParaRPr lang="en-US" sz="1150" dirty="0"/>
          </a:p>
          <a:p>
            <a:pPr marL="342900" indent="-342900">
              <a:lnSpc>
                <a:spcPts val="135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X Space covers · 2 cutdowns · video lower-thirds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47304" y="1417320"/>
            <a:ext cx="3566160" cy="4206240"/>
          </a:xfrm>
          <a:prstGeom prst="roundRect">
            <a:avLst>
              <a:gd name="adj" fmla="val 2564"/>
            </a:avLst>
          </a:prstGeom>
          <a:solidFill>
            <a:srgbClr val="F8F1EC"/>
          </a:solidFill>
          <a:ln/>
        </p:spPr>
      </p:sp>
      <p:sp>
        <p:nvSpPr>
          <p:cNvPr id="15" name="Text 13"/>
          <p:cNvSpPr/>
          <p:nvPr/>
        </p:nvSpPr>
        <p:spPr>
          <a:xfrm>
            <a:off x="8421624" y="166420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 · SOCIAL PROOF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21624" y="195681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Sep 1–3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421624" y="2377440"/>
            <a:ext cx="3063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35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Spotlight template (reusable every Monday)</a:t>
            </a:r>
            <a:endParaRPr lang="en-US" sz="1150" dirty="0"/>
          </a:p>
          <a:p>
            <a:pPr marL="342900" indent="-342900">
              <a:lnSpc>
                <a:spcPts val="135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Big-number stat template (case study + numbers posts)</a:t>
            </a:r>
            <a:endParaRPr lang="en-US" sz="1150" dirty="0"/>
          </a:p>
          <a:p>
            <a:pPr marL="342900" indent="-342900">
              <a:lnSpc>
                <a:spcPts val="135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 cover + Idea Battle bracket</a:t>
            </a:r>
            <a:endParaRPr lang="en-US" sz="1150" dirty="0"/>
          </a:p>
        </p:txBody>
      </p:sp>
      <p:sp>
        <p:nvSpPr>
          <p:cNvPr id="18" name="Text 16">
            <a:hlinkClick r:id="rId2" tooltip=""/>
          </p:cNvPr>
          <p:cNvSpPr/>
          <p:nvPr/>
        </p:nvSpPr>
        <p:spPr>
          <a:xfrm>
            <a:off x="502920" y="589788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15 assets · 3 waves · full spec table with per-asset deadlines in the Master Doc §12  ▸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FF4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KIT · ALREADY PRODUCED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Pre-launch &amp; launch day — ready to post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646920" y="365760"/>
            <a:ext cx="2084832" cy="329184"/>
          </a:xfrm>
          <a:prstGeom prst="roundRect">
            <a:avLst>
              <a:gd name="adj" fmla="val 38889"/>
            </a:avLst>
          </a:prstGeom>
          <a:solidFill>
            <a:srgbClr val="FF4E00"/>
          </a:solidFill>
          <a:ln/>
        </p:spPr>
      </p:sp>
      <p:sp>
        <p:nvSpPr>
          <p:cNvPr id="5" name="Text 3">
            <a:hlinkClick r:id="rId1" tooltip="Design kit"/>
          </p:cNvPr>
          <p:cNvSpPr/>
          <p:nvPr/>
        </p:nvSpPr>
        <p:spPr>
          <a:xfrm>
            <a:off x="9646920" y="365760"/>
            <a:ext cx="2084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u="sng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Design ki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 DOC  ▸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66344" y="1563624"/>
            <a:ext cx="3685032" cy="2103120"/>
          </a:xfrm>
          <a:prstGeom prst="roundRect">
            <a:avLst>
              <a:gd name="adj" fmla="val 2609"/>
            </a:avLst>
          </a:prstGeom>
          <a:solidFill>
            <a:srgbClr val="F8F1EC"/>
          </a:solidFill>
          <a:ln/>
        </p:spPr>
      </p:sp>
      <p:pic>
        <p:nvPicPr>
          <p:cNvPr id="7" name="Image 0" descr="/tmp/claude-0/-home-user-predictionmarket/cadac25f-7355-5a2e-945b-6583f4b657ab/scratchpad/deck/designs/teaser_coming_1600x90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00200"/>
            <a:ext cx="3611880" cy="20299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02920" y="3675888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TEASER · MON AUG 24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261104" y="1563624"/>
            <a:ext cx="3685032" cy="2103120"/>
          </a:xfrm>
          <a:prstGeom prst="roundRect">
            <a:avLst>
              <a:gd name="adj" fmla="val 2609"/>
            </a:avLst>
          </a:prstGeom>
          <a:solidFill>
            <a:srgbClr val="F8F1EC"/>
          </a:solidFill>
          <a:ln/>
        </p:spPr>
      </p:sp>
      <p:pic>
        <p:nvPicPr>
          <p:cNvPr id="10" name="Image 1" descr="/tmp/claude-0/-home-user-predictionmarket/cadac25f-7355-5a2e-945b-6583f4b657ab/scratchpad/deck/designs/countdown_rally_3days_1600x90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600200"/>
            <a:ext cx="3611880" cy="202996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297680" y="3675888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COUNTDOWN 3·2·1 · AUG 24–25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8055864" y="1563624"/>
            <a:ext cx="3685032" cy="2103120"/>
          </a:xfrm>
          <a:prstGeom prst="roundRect">
            <a:avLst>
              <a:gd name="adj" fmla="val 2609"/>
            </a:avLst>
          </a:prstGeom>
          <a:solidFill>
            <a:srgbClr val="F8F1EC"/>
          </a:solidFill>
          <a:ln/>
        </p:spPr>
      </p:sp>
      <p:pic>
        <p:nvPicPr>
          <p:cNvPr id="13" name="Image 2" descr="/tmp/claude-0/-home-user-predictionmarket/cadac25f-7355-5a2e-945b-6583f4b657ab/scratchpad/deck/designs/launch_og_rally_1600x90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1600200"/>
            <a:ext cx="3611880" cy="202996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092440" y="3675888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THREAD OG · WED AUG 26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466344" y="4005072"/>
            <a:ext cx="3685032" cy="2103120"/>
          </a:xfrm>
          <a:prstGeom prst="roundRect">
            <a:avLst>
              <a:gd name="adj" fmla="val 2609"/>
            </a:avLst>
          </a:prstGeom>
          <a:solidFill>
            <a:srgbClr val="F8F1EC"/>
          </a:solidFill>
          <a:ln/>
        </p:spPr>
      </p:sp>
      <p:pic>
        <p:nvPicPr>
          <p:cNvPr id="16" name="Image 3" descr="/tmp/claude-0/-home-user-predictionmarket/cadac25f-7355-5a2e-945b-6583f4b657ab/scratchpad/deck/designs/howitworks_og_rally_1600x90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4041648"/>
            <a:ext cx="3611880" cy="202996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02920" y="6117336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“HOW IT WORKS” ARTICLE OG · WED AUG 26</a:t>
            </a:r>
            <a:endParaRPr lang="en-US" sz="900" dirty="0"/>
          </a:p>
        </p:txBody>
      </p:sp>
      <p:sp>
        <p:nvSpPr>
          <p:cNvPr id="18" name="Shape 12"/>
          <p:cNvSpPr/>
          <p:nvPr/>
        </p:nvSpPr>
        <p:spPr>
          <a:xfrm>
            <a:off x="4261104" y="4005072"/>
            <a:ext cx="2103120" cy="2103120"/>
          </a:xfrm>
          <a:prstGeom prst="roundRect">
            <a:avLst>
              <a:gd name="adj" fmla="val 2609"/>
            </a:avLst>
          </a:prstGeom>
          <a:solidFill>
            <a:srgbClr val="F8F1EC"/>
          </a:solidFill>
          <a:ln/>
        </p:spPr>
      </p:sp>
      <p:pic>
        <p:nvPicPr>
          <p:cNvPr id="19" name="Image 4" descr="/tmp/claude-0/-home-user-predictionmarket/cadac25f-7355-5a2e-945b-6583f4b657ab/scratchpad/deck/designs/campaigns_are_live_1080x1080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97680" y="4041648"/>
            <a:ext cx="2029968" cy="2029968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297680" y="6117336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POST · WED AUG 26</a:t>
            </a:r>
            <a:endParaRPr lang="en-US" sz="900" dirty="0"/>
          </a:p>
        </p:txBody>
      </p:sp>
      <p:sp>
        <p:nvSpPr>
          <p:cNvPr id="21" name="Shape 14"/>
          <p:cNvSpPr/>
          <p:nvPr/>
        </p:nvSpPr>
        <p:spPr>
          <a:xfrm>
            <a:off x="6473952" y="4169664"/>
            <a:ext cx="5148072" cy="1764792"/>
          </a:xfrm>
          <a:prstGeom prst="roundRect">
            <a:avLst>
              <a:gd name="adj" fmla="val 3109"/>
            </a:avLst>
          </a:prstGeom>
          <a:solidFill>
            <a:srgbClr val="F8F1EC"/>
          </a:solidFill>
          <a:ln/>
        </p:spPr>
      </p:sp>
      <p:pic>
        <p:nvPicPr>
          <p:cNvPr id="22" name="Image 5" descr="/tmp/claude-0/-home-user-predictionmarket/cadac25f-7355-5a2e-945b-6583f4b657ab/scratchpad/deck/designs/email_header_rally_1200x400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0528" y="4206240"/>
            <a:ext cx="5074920" cy="1691640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6510528" y="5943600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HEADER · WED AUG 26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FF4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KIT · ALREADY PRODUCED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Sales, Spaces &amp; weekly templates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646920" y="365760"/>
            <a:ext cx="2084832" cy="329184"/>
          </a:xfrm>
          <a:prstGeom prst="roundRect">
            <a:avLst>
              <a:gd name="adj" fmla="val 38889"/>
            </a:avLst>
          </a:prstGeom>
          <a:solidFill>
            <a:srgbClr val="FF4E00"/>
          </a:solidFill>
          <a:ln/>
        </p:spPr>
      </p:sp>
      <p:sp>
        <p:nvSpPr>
          <p:cNvPr id="5" name="Text 3">
            <a:hlinkClick r:id="rId1" tooltip="Design kit"/>
          </p:cNvPr>
          <p:cNvSpPr/>
          <p:nvPr/>
        </p:nvSpPr>
        <p:spPr>
          <a:xfrm>
            <a:off x="9646920" y="365760"/>
            <a:ext cx="2084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u="sng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Design ki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 DOC  ▸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66344" y="1517904"/>
            <a:ext cx="3456432" cy="4306824"/>
          </a:xfrm>
          <a:prstGeom prst="roundRect">
            <a:avLst>
              <a:gd name="adj" fmla="val 1587"/>
            </a:avLst>
          </a:prstGeom>
          <a:solidFill>
            <a:srgbClr val="F8F1EC"/>
          </a:solidFill>
          <a:ln/>
        </p:spPr>
      </p:sp>
      <p:pic>
        <p:nvPicPr>
          <p:cNvPr id="7" name="Image 0" descr="/tmp/claude-0/-home-user-predictionmarket/cadac25f-7355-5a2e-945b-6583f4b657ab/scratchpad/deck/designs/verified_onepager_1080x135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54480"/>
            <a:ext cx="3383280" cy="42336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02920" y="5833872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ONE-PAGER · THU AUG 27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123944" y="1517904"/>
            <a:ext cx="2505456" cy="1444752"/>
          </a:xfrm>
          <a:prstGeom prst="roundRect">
            <a:avLst>
              <a:gd name="adj" fmla="val 3797"/>
            </a:avLst>
          </a:prstGeom>
          <a:solidFill>
            <a:srgbClr val="F8F1EC"/>
          </a:solidFill>
          <a:ln/>
        </p:spPr>
      </p:sp>
      <p:pic>
        <p:nvPicPr>
          <p:cNvPr id="10" name="Image 1" descr="/tmp/claude-0/-home-user-predictionmarket/cadac25f-7355-5a2e-945b-6583f4b657ab/scratchpad/deck/designs/call_for_projects_1600x90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1554480"/>
            <a:ext cx="2432304" cy="13716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160520" y="2971800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FOR PROJECTS · FRI AUG 28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6702552" y="1517904"/>
            <a:ext cx="2505456" cy="1444752"/>
          </a:xfrm>
          <a:prstGeom prst="roundRect">
            <a:avLst>
              <a:gd name="adj" fmla="val 3797"/>
            </a:avLst>
          </a:prstGeom>
          <a:solidFill>
            <a:srgbClr val="F8F1EC"/>
          </a:solidFill>
          <a:ln/>
        </p:spPr>
      </p:sp>
      <p:pic>
        <p:nvPicPr>
          <p:cNvPr id="13" name="Image 2" descr="/tmp/claude-0/-home-user-predictionmarket/cadac25f-7355-5a2e-945b-6583f4b657ab/scratchpad/deck/designs/space_livedemo_1600x90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9128" y="1554480"/>
            <a:ext cx="2432304" cy="13716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739128" y="2971800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 LIVE DEMO · MON AUG 31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9281160" y="1517904"/>
            <a:ext cx="2505456" cy="1444752"/>
          </a:xfrm>
          <a:prstGeom prst="roundRect">
            <a:avLst>
              <a:gd name="adj" fmla="val 3797"/>
            </a:avLst>
          </a:prstGeom>
          <a:solidFill>
            <a:srgbClr val="F8F1EC"/>
          </a:solidFill>
          <a:ln/>
        </p:spPr>
      </p:sp>
      <p:pic>
        <p:nvPicPr>
          <p:cNvPr id="16" name="Image 3" descr="/tmp/claude-0/-home-user-predictionmarket/cadac25f-7355-5a2e-945b-6583f4b657ab/scratchpad/deck/designs/space_ama_1600x90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17736" y="1554480"/>
            <a:ext cx="2432304" cy="13716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9317736" y="2971800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CREATORS &amp; PARTNERS AMA · AUG 29</a:t>
            </a:r>
            <a:endParaRPr lang="en-US" sz="900" dirty="0"/>
          </a:p>
        </p:txBody>
      </p:sp>
      <p:sp>
        <p:nvSpPr>
          <p:cNvPr id="18" name="Shape 12"/>
          <p:cNvSpPr/>
          <p:nvPr/>
        </p:nvSpPr>
        <p:spPr>
          <a:xfrm>
            <a:off x="4123944" y="3273552"/>
            <a:ext cx="2505456" cy="1444752"/>
          </a:xfrm>
          <a:prstGeom prst="roundRect">
            <a:avLst>
              <a:gd name="adj" fmla="val 3797"/>
            </a:avLst>
          </a:prstGeom>
          <a:solidFill>
            <a:srgbClr val="F8F1EC"/>
          </a:solidFill>
          <a:ln/>
        </p:spPr>
      </p:sp>
      <p:pic>
        <p:nvPicPr>
          <p:cNvPr id="19" name="Image 4" descr="/tmp/claude-0/-home-user-predictionmarket/cadac25f-7355-5a2e-945b-6583f4b657ab/scratchpad/deck/designs/spotlight_template_1600x900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60520" y="3310128"/>
            <a:ext cx="2432304" cy="137160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160520" y="4727448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SPOTLIGHT TEMPLATE · EVERY MON</a:t>
            </a:r>
            <a:endParaRPr lang="en-US" sz="900" dirty="0"/>
          </a:p>
        </p:txBody>
      </p:sp>
      <p:sp>
        <p:nvSpPr>
          <p:cNvPr id="21" name="Shape 14"/>
          <p:cNvSpPr/>
          <p:nvPr/>
        </p:nvSpPr>
        <p:spPr>
          <a:xfrm>
            <a:off x="6702552" y="3273552"/>
            <a:ext cx="2505456" cy="1444752"/>
          </a:xfrm>
          <a:prstGeom prst="roundRect">
            <a:avLst>
              <a:gd name="adj" fmla="val 3797"/>
            </a:avLst>
          </a:prstGeom>
          <a:solidFill>
            <a:srgbClr val="F8F1EC"/>
          </a:solidFill>
          <a:ln/>
        </p:spPr>
      </p:sp>
      <p:pic>
        <p:nvPicPr>
          <p:cNvPr id="22" name="Image 5" descr="/tmp/claude-0/-home-user-predictionmarket/cadac25f-7355-5a2e-945b-6583f4b657ab/scratchpad/deck/designs/casestudy_numbers_template_1600x900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39128" y="3310128"/>
            <a:ext cx="2432304" cy="1371600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6739128" y="4727448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“RECEIPTS” · FRI SEP 4</a:t>
            </a:r>
            <a:endParaRPr lang="en-US" sz="900" dirty="0"/>
          </a:p>
        </p:txBody>
      </p:sp>
      <p:sp>
        <p:nvSpPr>
          <p:cNvPr id="24" name="Shape 16"/>
          <p:cNvSpPr/>
          <p:nvPr/>
        </p:nvSpPr>
        <p:spPr>
          <a:xfrm>
            <a:off x="9281160" y="3273552"/>
            <a:ext cx="2505456" cy="1444752"/>
          </a:xfrm>
          <a:prstGeom prst="roundRect">
            <a:avLst>
              <a:gd name="adj" fmla="val 3797"/>
            </a:avLst>
          </a:prstGeom>
          <a:solidFill>
            <a:srgbClr val="F8F1EC"/>
          </a:solidFill>
          <a:ln/>
        </p:spPr>
      </p:sp>
      <p:pic>
        <p:nvPicPr>
          <p:cNvPr id="25" name="Image 6" descr="/tmp/claude-0/-home-user-predictionmarket/cadac25f-7355-5a2e-945b-6583f4b657ab/scratchpad/deck/designs/network_vs_verified_1920x1080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17736" y="3310128"/>
            <a:ext cx="2432304" cy="1371600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9317736" y="4727448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VS VERIFIED · FRI AUG 28</a:t>
            </a:r>
            <a:endParaRPr lang="en-US" sz="900" dirty="0"/>
          </a:p>
        </p:txBody>
      </p:sp>
      <p:sp>
        <p:nvSpPr>
          <p:cNvPr id="27" name="Shape 18"/>
          <p:cNvSpPr/>
          <p:nvPr/>
        </p:nvSpPr>
        <p:spPr>
          <a:xfrm>
            <a:off x="4654296" y="5029200"/>
            <a:ext cx="1444752" cy="1444752"/>
          </a:xfrm>
          <a:prstGeom prst="roundRect">
            <a:avLst>
              <a:gd name="adj" fmla="val 3797"/>
            </a:avLst>
          </a:prstGeom>
          <a:solidFill>
            <a:srgbClr val="F8F1EC"/>
          </a:solidFill>
          <a:ln/>
        </p:spPr>
      </p:sp>
      <p:pic>
        <p:nvPicPr>
          <p:cNvPr id="28" name="Image 7" descr="/tmp/claude-0/-home-user-predictionmarket/cadac25f-7355-5a2e-945b-6583f4b657ab/scratchpad/deck/designs/idea_battle_1080x1080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90872" y="5065776"/>
            <a:ext cx="1371600" cy="1371600"/>
          </a:xfrm>
          <a:prstGeom prst="rect">
            <a:avLst/>
          </a:prstGeom>
        </p:spPr>
      </p:pic>
      <p:sp>
        <p:nvSpPr>
          <p:cNvPr id="29" name="Text 19"/>
          <p:cNvSpPr/>
          <p:nvPr/>
        </p:nvSpPr>
        <p:spPr>
          <a:xfrm>
            <a:off x="4690872" y="648309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BATTLE · SAT SEP 5</a:t>
            </a:r>
            <a:endParaRPr lang="en-US" sz="900" dirty="0"/>
          </a:p>
        </p:txBody>
      </p:sp>
      <p:sp>
        <p:nvSpPr>
          <p:cNvPr id="30" name="Shape 20"/>
          <p:cNvSpPr/>
          <p:nvPr/>
        </p:nvSpPr>
        <p:spPr>
          <a:xfrm>
            <a:off x="6702552" y="5029200"/>
            <a:ext cx="2505456" cy="1444752"/>
          </a:xfrm>
          <a:prstGeom prst="roundRect">
            <a:avLst>
              <a:gd name="adj" fmla="val 3797"/>
            </a:avLst>
          </a:prstGeom>
          <a:solidFill>
            <a:srgbClr val="F8F1EC"/>
          </a:solidFill>
          <a:ln/>
        </p:spPr>
      </p:sp>
      <p:pic>
        <p:nvPicPr>
          <p:cNvPr id="31" name="Image 8" descr="/tmp/claude-0/-home-user-predictionmarket/cadac25f-7355-5a2e-945b-6583f4b657ab/scratchpad/deck/designs/why_permissionless_1920x1080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39128" y="5065776"/>
            <a:ext cx="2432304" cy="1371600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6739128" y="6483096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PERMISSIONLESS · W1</a:t>
            </a:r>
            <a:endParaRPr lang="en-US" sz="900" dirty="0"/>
          </a:p>
        </p:txBody>
      </p:sp>
      <p:sp>
        <p:nvSpPr>
          <p:cNvPr id="33" name="Shape 22"/>
          <p:cNvSpPr/>
          <p:nvPr/>
        </p:nvSpPr>
        <p:spPr>
          <a:xfrm>
            <a:off x="9317736" y="5065776"/>
            <a:ext cx="2432304" cy="1371600"/>
          </a:xfrm>
          <a:prstGeom prst="roundRect">
            <a:avLst>
              <a:gd name="adj" fmla="val 4000"/>
            </a:avLst>
          </a:prstGeom>
          <a:solidFill>
            <a:srgbClr val="25043A"/>
          </a:solidFill>
          <a:ln/>
        </p:spPr>
      </p:sp>
      <p:sp>
        <p:nvSpPr>
          <p:cNvPr id="34" name="Text 23"/>
          <p:cNvSpPr/>
          <p:nvPr/>
        </p:nvSpPr>
        <p:spPr>
          <a:xfrm>
            <a:off x="9482328" y="5230368"/>
            <a:ext cx="210312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4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WITH DESIGN/EDITOR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E8D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 edit · cutdowns 15/30s · KOL clips · lower-thirds</a:t>
            </a:r>
            <a:endParaRPr lang="en-US" sz="950" dirty="0"/>
          </a:p>
        </p:txBody>
      </p:sp>
      <p:sp>
        <p:nvSpPr>
          <p:cNvPr id="35" name="Text 24"/>
          <p:cNvSpPr/>
          <p:nvPr/>
        </p:nvSpPr>
        <p:spPr>
          <a:xfrm>
            <a:off x="502920" y="619963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i="1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static assets produced in Rally's graphic line — regenerable in minutes (copy, dates, sizes).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redictionmarket/cadac25f-7355-5a2e-945b-6583f4b657ab/scratchpad/deck/brand/rally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01184" y="1234440"/>
            <a:ext cx="2377440" cy="5669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2377440"/>
            <a:ext cx="996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46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campaign button belongs</a:t>
            </a:r>
            <a:endParaRPr lang="en-US" sz="3800" dirty="0"/>
          </a:p>
          <a:p>
            <a:pPr algn="ctr" indent="0" marL="0">
              <a:lnSpc>
                <a:spcPts val="46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everyone now.”</a:t>
            </a:r>
            <a:endParaRPr lang="en-US" sz="3800" dirty="0"/>
          </a:p>
        </p:txBody>
      </p:sp>
      <p:sp>
        <p:nvSpPr>
          <p:cNvPr id="4" name="Text 1"/>
          <p:cNvSpPr/>
          <p:nvPr/>
        </p:nvSpPr>
        <p:spPr>
          <a:xfrm>
            <a:off x="1097280" y="402336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E8D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pillars · 3 objectives · 12 days · everything written.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1097280" y="45262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FF4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Greenlight this week = we ship Wednesday Aug 26.</a:t>
            </a:r>
            <a:endParaRPr lang="en-US" sz="1700" dirty="0"/>
          </a:p>
        </p:txBody>
      </p:sp>
      <p:sp>
        <p:nvSpPr>
          <p:cNvPr id="6" name="Text 3">
            <a:hlinkClick r:id="rId2" tooltip=""/>
          </p:cNvPr>
          <p:cNvSpPr/>
          <p:nvPr/>
        </p:nvSpPr>
        <p:spPr>
          <a:xfrm>
            <a:off x="1097280" y="548640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u="sng" dirty="0">
                <a:solidFill>
                  <a:srgbClr val="B79AC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 Doc — plan, copy, scripts, design  ▸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2026-08-20T22:44:37Z</dcterms:created>
  <dcterms:modified xsi:type="dcterms:W3CDTF">2026-08-20T22:44:37Z</dcterms:modified>
</cp:coreProperties>
</file>